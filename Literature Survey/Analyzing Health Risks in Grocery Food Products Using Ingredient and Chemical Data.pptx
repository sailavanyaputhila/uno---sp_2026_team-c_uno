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E9F513-4487-4D78-AB8E-69CFFECAAE06}">
  <a:tblStyle styleId="{E5E9F513-4487-4D78-AB8E-69CFFECAAE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ProximaNova-bold.fntdata"/><Relationship Id="rId10" Type="http://schemas.openxmlformats.org/officeDocument/2006/relationships/slide" Target="slides/slide4.xml"/><Relationship Id="rId21" Type="http://schemas.openxmlformats.org/officeDocument/2006/relationships/font" Target="fonts/ProximaNova-regular.fntdata"/><Relationship Id="rId13" Type="http://schemas.openxmlformats.org/officeDocument/2006/relationships/slide" Target="slides/slide7.xml"/><Relationship Id="rId24" Type="http://schemas.openxmlformats.org/officeDocument/2006/relationships/font" Target="fonts/ProximaNova-boldItalic.fntdata"/><Relationship Id="rId12" Type="http://schemas.openxmlformats.org/officeDocument/2006/relationships/slide" Target="slides/slide6.xml"/><Relationship Id="rId23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da08a2f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da08a2f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da08a2f8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da08a2f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da08a2f8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da08a2f8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da08a2f8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da08a2f8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da08a2f8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da08a2f8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da08a2f8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da08a2f8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da08a2f8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da08a2f8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da08a2f8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da08a2f8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da08a2f8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da08a2f8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da08a2f8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da08a2f8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da08a2f8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da08a2f8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da08a2f8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da08a2f8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da08a2f86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da08a2f86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cambridge.org/core/journals/public-health-nutrition/article/ultraprocessed-foods-what-they-are-and-how-to-identifythem/E6D744D714B1FF09D5BCA3E74D53A185" TargetMode="External"/><Relationship Id="rId4" Type="http://schemas.openxmlformats.org/officeDocument/2006/relationships/hyperlink" Target="https://www.bmj.com/content/360/bmj.k322.full" TargetMode="External"/><Relationship Id="rId5" Type="http://schemas.openxmlformats.org/officeDocument/2006/relationships/hyperlink" Target="https://www.researchgate.net/publication/363922368_Comparative_Toxicogenomics_Database_CTD_update_2023" TargetMode="External"/><Relationship Id="rId6" Type="http://schemas.openxmlformats.org/officeDocument/2006/relationships/hyperlink" Target="https://academic.oup.com/nar/article/50/D1/D622/643181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75950" y="826250"/>
            <a:ext cx="8520600" cy="135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/>
              <a:t>Analyzing Health Risks in Grocery Food Products Using Ingredient and Chemical Data</a:t>
            </a:r>
            <a:endParaRPr sz="30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Sai Lavanya Puthila and Zach Edwards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738425" y="2343900"/>
            <a:ext cx="7373100" cy="455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 Bridging the gap between unstructured grocery labels and authoritative chemical-health datasets through Data Science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Sai Lavanya Puthila</a:t>
            </a:r>
            <a:endParaRPr b="1"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MS Data Science student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Background in Python, SQL, data cleaning, and applied analytics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Experience with real-world datasets and public health–oriented analysis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Focus on Data Integration and Statistical Validation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Zach Edwards</a:t>
            </a:r>
            <a:endParaRPr b="1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BS Nutrition of Health Science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MS Data Science Student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Background in R, Python and applied analytics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Experience in supply chain world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Focus on Natural Language Processing (NLP) and Predictive Modeling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Problem Statement</a:t>
            </a:r>
            <a:endParaRPr b="1"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The Problem:</a:t>
            </a:r>
            <a:r>
              <a:rPr lang="en">
                <a:solidFill>
                  <a:schemeClr val="dk1"/>
                </a:solidFill>
              </a:rPr>
              <a:t> Grocery foods contain complex additives (preservatives, emulsifiers, sweeteners) presented as unstructured text on labels.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The Disconnect:</a:t>
            </a:r>
            <a:r>
              <a:rPr lang="en">
                <a:solidFill>
                  <a:schemeClr val="dk1"/>
                </a:solidFill>
              </a:rPr>
              <a:t> Detailed scientific evidence linking these chemicals to health exists in massive databases, but is not connected to real food products.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The Solution:</a:t>
            </a:r>
            <a:r>
              <a:rPr lang="en">
                <a:solidFill>
                  <a:schemeClr val="dk1"/>
                </a:solidFill>
              </a:rPr>
              <a:t> Build a data-driven system that extracts and standardizes ingredient data and links it to documented health outcomes using three pillars of Data Science: Synthesis, Prediction, and Inference.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456950" y="261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Literature Survey Overview</a:t>
            </a:r>
            <a:endParaRPr b="1" sz="4200"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456950" y="121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Our survey focuses on </a:t>
            </a:r>
            <a:r>
              <a:rPr b="1" lang="en">
                <a:solidFill>
                  <a:schemeClr val="dk1"/>
                </a:solidFill>
              </a:rPr>
              <a:t>Data Architecture, Predictive Modeling, Data Integration, and Statistical Validation.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utilize three foundational papers representing the </a:t>
            </a:r>
            <a:r>
              <a:rPr b="1" lang="en">
                <a:solidFill>
                  <a:schemeClr val="dk1"/>
                </a:solidFill>
              </a:rPr>
              <a:t>Three Pillars of Modern Data Science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Evidence Synthesis:</a:t>
            </a:r>
            <a:r>
              <a:rPr lang="en">
                <a:solidFill>
                  <a:schemeClr val="dk1"/>
                </a:solidFill>
              </a:rPr>
              <a:t> The BMJ UPF Umbrella Review.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Machine Learning-driven Data Augmentation:</a:t>
            </a:r>
            <a:r>
              <a:rPr lang="en">
                <a:solidFill>
                  <a:schemeClr val="dk1"/>
                </a:solidFill>
              </a:rPr>
              <a:t> HMDB 5.0.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Graph-based Inference:</a:t>
            </a:r>
            <a:r>
              <a:rPr lang="en">
                <a:solidFill>
                  <a:schemeClr val="dk1"/>
                </a:solidFill>
              </a:rPr>
              <a:t> CTD 2023 Update.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424225" y="512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 Ultra-processed food (UPF) Review</a:t>
            </a:r>
            <a:endParaRPr b="1" sz="2500"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565950" y="13066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Focus:</a:t>
            </a:r>
            <a:r>
              <a:rPr lang="en">
                <a:solidFill>
                  <a:schemeClr val="dk1"/>
                </a:solidFill>
              </a:rPr>
              <a:t> Statistical Meta-Analysis and Evidence Quality Grading.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Objective:</a:t>
            </a:r>
            <a:r>
              <a:rPr lang="en">
                <a:solidFill>
                  <a:schemeClr val="dk1"/>
                </a:solidFill>
              </a:rPr>
              <a:t> To synthesize high level evidence across multiple meta-analyses regarding health risks of UPFs.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Statistical Metrics:</a:t>
            </a:r>
            <a:r>
              <a:rPr lang="en">
                <a:solidFill>
                  <a:schemeClr val="dk1"/>
                </a:solidFill>
              </a:rPr>
              <a:t> Uses Relative Risk (RR), Odds Ratios (OR), and 95% CIs.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Data Quality Grading:</a:t>
            </a:r>
            <a:r>
              <a:rPr lang="en">
                <a:solidFill>
                  <a:schemeClr val="dk1"/>
                </a:solidFill>
              </a:rPr>
              <a:t> Uses GRADE framework to categorize evidence certainty (High to Very Low).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Visualization:</a:t>
            </a:r>
            <a:r>
              <a:rPr lang="en">
                <a:solidFill>
                  <a:schemeClr val="dk1"/>
                </a:solidFill>
              </a:rPr>
              <a:t> Uses Forest Plots to show effect sizes across studies.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DS Insight for Capstone:</a:t>
            </a:r>
            <a:r>
              <a:rPr lang="en">
                <a:solidFill>
                  <a:schemeClr val="dk1"/>
                </a:solidFill>
              </a:rPr>
              <a:t> Data Harmonization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544500" y="259050"/>
            <a:ext cx="7688700" cy="6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HMDB 5.0 (Human Metabolome Database)</a:t>
            </a:r>
            <a:endParaRPr b="1" sz="2500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544500" y="1153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chemeClr val="dk1"/>
                </a:solidFill>
              </a:rPr>
              <a:t>Focus:</a:t>
            </a:r>
            <a:r>
              <a:rPr lang="en" sz="5600">
                <a:solidFill>
                  <a:schemeClr val="dk1"/>
                </a:solidFill>
              </a:rPr>
              <a:t> Predictive Modeling and Machine Learning for Data Augmentation.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Objective:</a:t>
            </a:r>
            <a:r>
              <a:rPr lang="en" sz="5600">
                <a:solidFill>
                  <a:schemeClr val="dk1"/>
                </a:solidFill>
              </a:rPr>
              <a:t> To provide a comprehensive database using AI to fill gaps where experimental data is missing.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DS Methodology: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Predictive Modeling (CFM-ID 4.0):</a:t>
            </a:r>
            <a:r>
              <a:rPr lang="en" sz="5600">
                <a:solidFill>
                  <a:schemeClr val="dk1"/>
                </a:solidFill>
              </a:rPr>
              <a:t> Uses ML (Competitive Fragment Modeling) to predict MS/MS spectra with 30% higher accuracy.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In Silico Data Generation:</a:t>
            </a:r>
            <a:r>
              <a:rPr lang="en" sz="5600">
                <a:solidFill>
                  <a:schemeClr val="dk1"/>
                </a:solidFill>
              </a:rPr>
              <a:t> Uses AI to generate "Predicted Observables" (NMR spectra, Retention Indices).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Ontology Engineering:</a:t>
            </a:r>
            <a:r>
              <a:rPr lang="en" sz="5600">
                <a:solidFill>
                  <a:schemeClr val="dk1"/>
                </a:solidFill>
              </a:rPr>
              <a:t> Uses </a:t>
            </a:r>
            <a:r>
              <a:rPr b="1" lang="en" sz="5600">
                <a:solidFill>
                  <a:schemeClr val="dk1"/>
                </a:solidFill>
              </a:rPr>
              <a:t>ChemFOnt</a:t>
            </a:r>
            <a:r>
              <a:rPr lang="en" sz="5600">
                <a:solidFill>
                  <a:schemeClr val="dk1"/>
                </a:solidFill>
              </a:rPr>
              <a:t>, a machine-readable ontology for automated data mining and NLP.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Visualization:</a:t>
            </a:r>
            <a:r>
              <a:rPr lang="en" sz="5600">
                <a:solidFill>
                  <a:schemeClr val="dk1"/>
                </a:solidFill>
              </a:rPr>
              <a:t> Interactive 3D molecular rendering (JSmol) and spectral viewers (JSV).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DS Insight for Capstone:</a:t>
            </a:r>
            <a:r>
              <a:rPr lang="en" sz="5600">
                <a:solidFill>
                  <a:schemeClr val="dk1"/>
                </a:solidFill>
              </a:rPr>
              <a:t> Demonstrates </a:t>
            </a:r>
            <a:r>
              <a:rPr b="1" lang="en" sz="5600">
                <a:solidFill>
                  <a:schemeClr val="dk1"/>
                </a:solidFill>
              </a:rPr>
              <a:t>AI-driven data expansion</a:t>
            </a:r>
            <a:r>
              <a:rPr lang="en" sz="5600">
                <a:solidFill>
                  <a:schemeClr val="dk1"/>
                </a:solidFill>
              </a:rPr>
              <a:t>—moving from "storing data" to "predicting data" via ML.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71025" y="566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Comparative Toxicogenomics Database (CTD) 2023</a:t>
            </a:r>
            <a:endParaRPr b="1" sz="2500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626550" y="11806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Focus:</a:t>
            </a:r>
            <a:r>
              <a:rPr lang="en" sz="5600">
                <a:solidFill>
                  <a:schemeClr val="dk1"/>
                </a:solidFill>
              </a:rPr>
              <a:t> Inference Engines and Relational Graph Networks.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Objective:</a:t>
            </a:r>
            <a:r>
              <a:rPr lang="en" sz="5600">
                <a:solidFill>
                  <a:schemeClr val="dk1"/>
                </a:solidFill>
              </a:rPr>
              <a:t> To link chemical exposures to gene interactions and diseases, creating a "Discoverybase."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DS Methodology:</a:t>
            </a:r>
            <a:endParaRPr b="1"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The Tetramer Tool (C-G-P-D):</a:t>
            </a:r>
            <a:r>
              <a:rPr lang="en" sz="5600">
                <a:solidFill>
                  <a:schemeClr val="dk1"/>
                </a:solidFill>
              </a:rPr>
              <a:t> A graph-based inference engine linking Chemical, Gene, Phenotype, and Disease. It "infers" unknown links to discover pathways.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Data Curation Pipeline:</a:t>
            </a:r>
            <a:r>
              <a:rPr lang="en" sz="5600">
                <a:solidFill>
                  <a:schemeClr val="dk1"/>
                </a:solidFill>
              </a:rPr>
              <a:t> Uses </a:t>
            </a:r>
            <a:r>
              <a:rPr b="1" lang="en" sz="5600">
                <a:solidFill>
                  <a:schemeClr val="dk1"/>
                </a:solidFill>
              </a:rPr>
              <a:t>Text Mining and Article Ranking algorithms</a:t>
            </a:r>
            <a:r>
              <a:rPr lang="en" sz="5600">
                <a:solidFill>
                  <a:schemeClr val="dk1"/>
                </a:solidFill>
              </a:rPr>
              <a:t> (Recommender System) to prioritize research.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Exposome Mapping:</a:t>
            </a:r>
            <a:r>
              <a:rPr lang="en" sz="5600">
                <a:solidFill>
                  <a:schemeClr val="dk1"/>
                </a:solidFill>
              </a:rPr>
              <a:t> Relational database mapping of biomarkers to anatomical sites.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Visualization:</a:t>
            </a:r>
            <a:r>
              <a:rPr lang="en" sz="5600">
                <a:solidFill>
                  <a:schemeClr val="dk1"/>
                </a:solidFill>
              </a:rPr>
              <a:t> Uses </a:t>
            </a:r>
            <a:r>
              <a:rPr b="1" lang="en" sz="5600">
                <a:solidFill>
                  <a:schemeClr val="dk1"/>
                </a:solidFill>
              </a:rPr>
              <a:t>Inference Networks</a:t>
            </a:r>
            <a:r>
              <a:rPr lang="en" sz="5600">
                <a:solidFill>
                  <a:schemeClr val="dk1"/>
                </a:solidFill>
              </a:rPr>
              <a:t> and </a:t>
            </a:r>
            <a:r>
              <a:rPr b="1" lang="en" sz="5600">
                <a:solidFill>
                  <a:schemeClr val="dk1"/>
                </a:solidFill>
              </a:rPr>
              <a:t>Mode-of-Action (MoA) maps</a:t>
            </a:r>
            <a:r>
              <a:rPr lang="en" sz="5600">
                <a:solidFill>
                  <a:schemeClr val="dk1"/>
                </a:solidFill>
              </a:rPr>
              <a:t>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5600">
                <a:solidFill>
                  <a:schemeClr val="dk1"/>
                </a:solidFill>
              </a:rPr>
              <a:t>DS Insight for Capstone:</a:t>
            </a:r>
            <a:r>
              <a:rPr lang="en" sz="5600">
                <a:solidFill>
                  <a:schemeClr val="dk1"/>
                </a:solidFill>
              </a:rPr>
              <a:t> A masterclass in </a:t>
            </a:r>
            <a:r>
              <a:rPr b="1" lang="en" sz="5600">
                <a:solidFill>
                  <a:schemeClr val="dk1"/>
                </a:solidFill>
              </a:rPr>
              <a:t>Knowledge Graphs</a:t>
            </a:r>
            <a:r>
              <a:rPr lang="en" sz="5600">
                <a:solidFill>
                  <a:schemeClr val="dk1"/>
                </a:solidFill>
              </a:rPr>
              <a:t>—structuring data to "query" for relationships not explicitly stated in source data.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663225" y="512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</a:t>
            </a:r>
            <a:r>
              <a:rPr b="1" lang="en" sz="2500"/>
              <a:t>Summary Comparison of Literature</a:t>
            </a:r>
            <a:endParaRPr b="1" sz="2500"/>
          </a:p>
        </p:txBody>
      </p:sp>
      <p:graphicFrame>
        <p:nvGraphicFramePr>
          <p:cNvPr id="109" name="Google Shape;109;p21"/>
          <p:cNvGraphicFramePr/>
          <p:nvPr/>
        </p:nvGraphicFramePr>
        <p:xfrm>
          <a:off x="736950" y="113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{E5E9F513-4487-4D78-AB8E-69CFFECAAE06}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Feature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Paper 1 &amp; 2 (UPF)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Paper 2 (HMDB)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Paper 3 (CTD)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DS Core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Statistical Harmonization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Predictive ML Modeling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Graph Inference &amp; NLP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Primary Task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Risk Assessment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Augmentation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Relationship Discovery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Model Used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Meta-Regression / GRADE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CFM-ID 4.0 (ML)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Inference Logic / Recommender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Data Type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Population Health Metrics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Chemical/Spectral 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Interaction/Network Data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Visualization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Forest Plots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3D Interactive Models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Mechanistic Path Maps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606400" y="733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SMART Goal</a:t>
            </a:r>
            <a:endParaRPr b="1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727650" y="13489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S:</a:t>
            </a:r>
            <a:r>
              <a:rPr lang="en" sz="7200">
                <a:solidFill>
                  <a:schemeClr val="dk1"/>
                </a:solidFill>
              </a:rPr>
              <a:t> Develop a product-level health risk analysis framework for grocery foods.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M:</a:t>
            </a:r>
            <a:r>
              <a:rPr lang="en" sz="7200">
                <a:solidFill>
                  <a:schemeClr val="dk1"/>
                </a:solidFill>
              </a:rPr>
              <a:t> Extract chemicals and match them to authoritative datasets to create a risk score.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A:</a:t>
            </a:r>
            <a:r>
              <a:rPr lang="en" sz="7200">
                <a:solidFill>
                  <a:schemeClr val="dk1"/>
                </a:solidFill>
              </a:rPr>
              <a:t> Build predictive models classifying products into low, medium, or high risk.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R:</a:t>
            </a:r>
            <a:r>
              <a:rPr lang="en" sz="7200">
                <a:solidFill>
                  <a:schemeClr val="dk1"/>
                </a:solidFill>
              </a:rPr>
              <a:t> Provide decision support insights by identifying high risk categories/brands.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T:</a:t>
            </a:r>
            <a:r>
              <a:rPr lang="en" sz="7200">
                <a:solidFill>
                  <a:schemeClr val="dk1"/>
                </a:solidFill>
              </a:rPr>
              <a:t> Gantt Chart.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667925" y="580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Gantt Chart</a:t>
            </a:r>
            <a:endParaRPr b="1" sz="2400"/>
          </a:p>
        </p:txBody>
      </p:sp>
      <p:graphicFrame>
        <p:nvGraphicFramePr>
          <p:cNvPr id="121" name="Google Shape;121;p23"/>
          <p:cNvGraphicFramePr/>
          <p:nvPr/>
        </p:nvGraphicFramePr>
        <p:xfrm>
          <a:off x="754075" y="140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{E5E9F513-4487-4D78-AB8E-69CFFECAAE06}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Phase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Weeks 1-4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Weeks 5-8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Weeks 9-12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Weeks 13-15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Data Acquisition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NLP &amp; Ingredient Extraction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Chemical-Health Matching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Risk Scoring &amp; ML Modeling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Visualization &amp; Reporting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654150" y="5398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Proposed Methodology &amp; Dataset</a:t>
            </a:r>
            <a:endParaRPr b="1" sz="2400"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654150" y="12514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NLP Extraction:</a:t>
            </a:r>
            <a:r>
              <a:rPr lang="en" sz="7200">
                <a:solidFill>
                  <a:schemeClr val="dk1"/>
                </a:solidFill>
              </a:rPr>
              <a:t> Extracting and cleaning ingredient info from grocery labels.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Entity Resolution:</a:t>
            </a:r>
            <a:r>
              <a:rPr lang="en" sz="7200">
                <a:solidFill>
                  <a:schemeClr val="dk1"/>
                </a:solidFill>
              </a:rPr>
              <a:t> Matching extracted chemicals to HMDB and CTD IDs.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Scoring Engine:</a:t>
            </a:r>
            <a:r>
              <a:rPr lang="en" sz="7200">
                <a:solidFill>
                  <a:schemeClr val="dk1"/>
                </a:solidFill>
              </a:rPr>
              <a:t> Creating an interpretable risk score based on additive presence and GRADE evidence strength.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Datasets:</a:t>
            </a:r>
            <a:endParaRPr b="1"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Grocery Data:</a:t>
            </a:r>
            <a:r>
              <a:rPr lang="en" sz="7200">
                <a:solidFill>
                  <a:schemeClr val="dk1"/>
                </a:solidFill>
              </a:rPr>
              <a:t> Real-world grocery product labels (unstructured text).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HMDB 5.0:</a:t>
            </a:r>
            <a:r>
              <a:rPr lang="en" sz="7200">
                <a:solidFill>
                  <a:schemeClr val="dk1"/>
                </a:solidFill>
              </a:rPr>
              <a:t> 217,920 metabolites (Predictive Data).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CTD 2023:</a:t>
            </a:r>
            <a:r>
              <a:rPr lang="en" sz="7200">
                <a:solidFill>
                  <a:schemeClr val="dk1"/>
                </a:solidFill>
              </a:rPr>
              <a:t> 50 million+ toxicogenomic relationships (Graph Data).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655625" y="7771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50"/>
              <a:t>Conclusion &amp; DS Significance</a:t>
            </a:r>
            <a:endParaRPr b="1" sz="2350"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655625" y="15769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Integration:</a:t>
            </a:r>
            <a:r>
              <a:rPr lang="en" sz="7200">
                <a:solidFill>
                  <a:schemeClr val="dk1"/>
                </a:solidFill>
              </a:rPr>
              <a:t> Our project analyzes Health/Bio-informatics across three levels: </a:t>
            </a:r>
            <a:r>
              <a:rPr b="1" lang="en" sz="7200">
                <a:solidFill>
                  <a:schemeClr val="dk1"/>
                </a:solidFill>
              </a:rPr>
              <a:t>Synthesis (UPF), Prediction (HMDB), and Inference (CTD).</a:t>
            </a:r>
            <a:endParaRPr b="1"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Scientific Rigor:</a:t>
            </a:r>
            <a:r>
              <a:rPr lang="en" sz="7200">
                <a:solidFill>
                  <a:schemeClr val="dk1"/>
                </a:solidFill>
              </a:rPr>
              <a:t> We handle data "uncertainty" by adopting the GRADE framework (Paper 1).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Innovation:</a:t>
            </a:r>
            <a:r>
              <a:rPr lang="en" sz="7200">
                <a:solidFill>
                  <a:schemeClr val="dk1"/>
                </a:solidFill>
              </a:rPr>
              <a:t> Modern Data Science requires this combination: </a:t>
            </a:r>
            <a:r>
              <a:rPr b="1" lang="en" sz="7200">
                <a:solidFill>
                  <a:schemeClr val="dk1"/>
                </a:solidFill>
              </a:rPr>
              <a:t>Rigorous statistical validation</a:t>
            </a:r>
            <a:r>
              <a:rPr lang="en" sz="7200">
                <a:solidFill>
                  <a:schemeClr val="dk1"/>
                </a:solidFill>
              </a:rPr>
              <a:t> (Paper 1) + </a:t>
            </a:r>
            <a:r>
              <a:rPr b="1" lang="en" sz="7200">
                <a:solidFill>
                  <a:schemeClr val="dk1"/>
                </a:solidFill>
              </a:rPr>
              <a:t>AI-driven data enrichment</a:t>
            </a:r>
            <a:r>
              <a:rPr lang="en" sz="7200">
                <a:solidFill>
                  <a:schemeClr val="dk1"/>
                </a:solidFill>
              </a:rPr>
              <a:t> (Paper 2) + </a:t>
            </a:r>
            <a:r>
              <a:rPr b="1" lang="en" sz="7200">
                <a:solidFill>
                  <a:schemeClr val="dk1"/>
                </a:solidFill>
              </a:rPr>
              <a:t>Relational inference</a:t>
            </a:r>
            <a:r>
              <a:rPr lang="en" sz="7200">
                <a:solidFill>
                  <a:schemeClr val="dk1"/>
                </a:solidFill>
              </a:rPr>
              <a:t> (Paper 3).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200">
                <a:solidFill>
                  <a:schemeClr val="dk1"/>
                </a:solidFill>
              </a:rPr>
              <a:t>Final Impact:</a:t>
            </a:r>
            <a:r>
              <a:rPr lang="en" sz="7200">
                <a:solidFill>
                  <a:schemeClr val="dk1"/>
                </a:solidFill>
              </a:rPr>
              <a:t> Translating raw ingredient data into meaningful, evidence-based insights at the product level.</a:t>
            </a:r>
            <a:endParaRPr sz="7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265475" y="1758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eferences </a:t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113050" y="11194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https://www.cambridge.org/core/journals/public-health-nutrition/article/ultraprocessed-foods-what-they-are-and-how-to-identifythem/E6D744D714B1FF09D5BCA3E74D53A185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https://www.bmj.com/content/360/bmj.k322.full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(PDF) Comparative Toxicogenomics Database (CTD): update 2023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HMDB 5.0: the Human Metabolome Database for 2022 | Nucleic Acids Research | Oxford Academic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