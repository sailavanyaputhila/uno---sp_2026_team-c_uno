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74" r:id="rId4"/>
    <p:sldId id="258" r:id="rId5"/>
    <p:sldId id="259" r:id="rId6"/>
    <p:sldId id="271" r:id="rId7"/>
    <p:sldId id="272" r:id="rId8"/>
    <p:sldId id="260" r:id="rId9"/>
    <p:sldId id="261" r:id="rId10"/>
    <p:sldId id="262" r:id="rId11"/>
    <p:sldId id="263" r:id="rId12"/>
    <p:sldId id="264" r:id="rId13"/>
    <p:sldId id="265" r:id="rId14"/>
    <p:sldId id="266" r:id="rId15"/>
    <p:sldId id="267" r:id="rId16"/>
    <p:sldId id="273" r:id="rId17"/>
    <p:sldId id="268" r:id="rId18"/>
    <p:sldId id="26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582" autoAdjust="0"/>
  </p:normalViewPr>
  <p:slideViewPr>
    <p:cSldViewPr snapToGrid="0">
      <p:cViewPr>
        <p:scale>
          <a:sx n="76" d="100"/>
          <a:sy n="76" d="100"/>
        </p:scale>
        <p:origin x="2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335852-90AC-48BA-BCA2-2A28FF269989}"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B12093-7159-4C14-B6F0-1224F694601E}" type="slidenum">
              <a:rPr lang="en-US" smtClean="0"/>
              <a:t>‹#›</a:t>
            </a:fld>
            <a:endParaRPr lang="en-US"/>
          </a:p>
        </p:txBody>
      </p:sp>
    </p:spTree>
    <p:extLst>
      <p:ext uri="{BB962C8B-B14F-4D97-AF65-F5344CB8AC3E}">
        <p14:creationId xmlns:p14="http://schemas.microsoft.com/office/powerpoint/2010/main" val="1558852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bing.com/ck/a?!&amp;&amp;p=2a587ab02aa04a7da48356a55dedcb566e33cd0e0eb344f67ef49e597d0ed0b3JmltdHM9MTc3MTg5MTIwMA&amp;ptn=3&amp;ver=2&amp;hsh=4&amp;fclid=0ffd0670-db38-6815-3296-117ada706930&amp;u=a1aHR0cHM6Ly9kYXRhaGVhZGh1bnRlcnMuY29tL2FjYWRlbXkvcmVndWxhci1leHByZXNzaW9ucy1mb3ItZGF0YS1jbGVhbmluZy10aXBzLWFuZC10cmlja3Mv&amp;ntb=1"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developed a research-oriented framework that integrates ingredient parsing with toxicogenomic evidence to evaluate additive prevalence and biological connectivity across packaged snack categories.</a:t>
            </a:r>
          </a:p>
        </p:txBody>
      </p:sp>
      <p:sp>
        <p:nvSpPr>
          <p:cNvPr id="4" name="Slide Number Placeholder 3"/>
          <p:cNvSpPr>
            <a:spLocks noGrp="1"/>
          </p:cNvSpPr>
          <p:nvPr>
            <p:ph type="sldNum" sz="quarter" idx="5"/>
          </p:nvPr>
        </p:nvSpPr>
        <p:spPr/>
        <p:txBody>
          <a:bodyPr/>
          <a:lstStyle/>
          <a:p>
            <a:fld id="{F0B12093-7159-4C14-B6F0-1224F694601E}" type="slidenum">
              <a:rPr lang="en-US" smtClean="0"/>
              <a:t>1</a:t>
            </a:fld>
            <a:endParaRPr lang="en-US"/>
          </a:p>
        </p:txBody>
      </p:sp>
    </p:spTree>
    <p:extLst>
      <p:ext uri="{BB962C8B-B14F-4D97-AF65-F5344CB8AC3E}">
        <p14:creationId xmlns:p14="http://schemas.microsoft.com/office/powerpoint/2010/main" val="3686029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cleaned ingredient text through normalization and tokenization to enable structured analysis.</a:t>
            </a:r>
            <a:br>
              <a:rPr lang="en-US" dirty="0"/>
            </a:br>
            <a:r>
              <a:rPr lang="en-US" dirty="0"/>
              <a:t>Duplicates were removed to prevent statistical distortion.</a:t>
            </a:r>
            <a:br>
              <a:rPr lang="en-US" dirty="0"/>
            </a:br>
            <a:r>
              <a:rPr lang="en-US" dirty="0"/>
              <a:t>We engineered formulation complexity and additive presence features, then integrated toxicogenomic evidence into a log-scaled risk weight.</a:t>
            </a:r>
            <a:br>
              <a:rPr lang="en-US" dirty="0"/>
            </a:br>
            <a:r>
              <a:rPr lang="en-US" dirty="0"/>
              <a:t>This transforms raw ingredient text into structured, analyzable signals.</a:t>
            </a:r>
          </a:p>
        </p:txBody>
      </p:sp>
      <p:sp>
        <p:nvSpPr>
          <p:cNvPr id="4" name="Slide Number Placeholder 3"/>
          <p:cNvSpPr>
            <a:spLocks noGrp="1"/>
          </p:cNvSpPr>
          <p:nvPr>
            <p:ph type="sldNum" sz="quarter" idx="5"/>
          </p:nvPr>
        </p:nvSpPr>
        <p:spPr/>
        <p:txBody>
          <a:bodyPr/>
          <a:lstStyle/>
          <a:p>
            <a:fld id="{F0B12093-7159-4C14-B6F0-1224F694601E}" type="slidenum">
              <a:rPr lang="en-US" smtClean="0"/>
              <a:t>7</a:t>
            </a:fld>
            <a:endParaRPr lang="en-US"/>
          </a:p>
        </p:txBody>
      </p:sp>
    </p:spTree>
    <p:extLst>
      <p:ext uri="{BB962C8B-B14F-4D97-AF65-F5344CB8AC3E}">
        <p14:creationId xmlns:p14="http://schemas.microsoft.com/office/powerpoint/2010/main" val="4064917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We removed duplicates to avoid frequency distortion and ensured ingredient text was present for all products analyzed.</a:t>
            </a:r>
          </a:p>
        </p:txBody>
      </p:sp>
      <p:sp>
        <p:nvSpPr>
          <p:cNvPr id="4" name="Slide Number Placeholder 3"/>
          <p:cNvSpPr>
            <a:spLocks noGrp="1"/>
          </p:cNvSpPr>
          <p:nvPr>
            <p:ph type="sldNum" sz="quarter" idx="5"/>
          </p:nvPr>
        </p:nvSpPr>
        <p:spPr/>
        <p:txBody>
          <a:bodyPr/>
          <a:lstStyle/>
          <a:p>
            <a:fld id="{F0B12093-7159-4C14-B6F0-1224F694601E}" type="slidenum">
              <a:rPr lang="en-US" smtClean="0"/>
              <a:t>8</a:t>
            </a:fld>
            <a:endParaRPr lang="en-US"/>
          </a:p>
        </p:txBody>
      </p:sp>
    </p:spTree>
    <p:extLst>
      <p:ext uri="{BB962C8B-B14F-4D97-AF65-F5344CB8AC3E}">
        <p14:creationId xmlns:p14="http://schemas.microsoft.com/office/powerpoint/2010/main" val="2756618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Ingredient count serves as a proxy for formulation complexity.</a:t>
            </a:r>
            <a:br>
              <a:rPr lang="en-US" dirty="0"/>
            </a:br>
            <a:r>
              <a:rPr lang="en-US" dirty="0"/>
              <a:t>Structural baked goods show higher complexity than savory snacks.</a:t>
            </a:r>
            <a:br>
              <a:rPr lang="en-US" dirty="0"/>
            </a:br>
            <a:br>
              <a:rPr lang="en-US" dirty="0"/>
            </a:br>
            <a:r>
              <a:rPr lang="en-US" b="0" i="0" u="none" strike="noStrike" dirty="0">
                <a:effectLst/>
                <a:latin typeface="Roboto" panose="02000000000000000000" pitchFamily="2" charset="0"/>
                <a:hlinkClick r:id="rId3"/>
              </a:rPr>
              <a:t>Regex-based cleaning involves using regular expressions to identify, validate, and transform data in a structured and efficient manner. This method is particularly useful for tasks such as pattern matching, data validation, and data transformation. Regex can be employed to remove unwanted characters, correct formatting errors, and ensure that data conforms to expected formats. It is a powerful tool for enhancing data quality and improving the reliability of subsequent analyses.</a:t>
            </a:r>
            <a:endParaRPr lang="en-US" dirty="0"/>
          </a:p>
        </p:txBody>
      </p:sp>
      <p:sp>
        <p:nvSpPr>
          <p:cNvPr id="4" name="Slide Number Placeholder 3"/>
          <p:cNvSpPr>
            <a:spLocks noGrp="1"/>
          </p:cNvSpPr>
          <p:nvPr>
            <p:ph type="sldNum" sz="quarter" idx="5"/>
          </p:nvPr>
        </p:nvSpPr>
        <p:spPr/>
        <p:txBody>
          <a:bodyPr/>
          <a:lstStyle/>
          <a:p>
            <a:fld id="{F0B12093-7159-4C14-B6F0-1224F694601E}" type="slidenum">
              <a:rPr lang="en-US" smtClean="0"/>
              <a:t>9</a:t>
            </a:fld>
            <a:endParaRPr lang="en-US"/>
          </a:p>
        </p:txBody>
      </p:sp>
    </p:spTree>
    <p:extLst>
      <p:ext uri="{BB962C8B-B14F-4D97-AF65-F5344CB8AC3E}">
        <p14:creationId xmlns:p14="http://schemas.microsoft.com/office/powerpoint/2010/main" val="1302461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Additive presence varies systematically by snack ecosystem, confirming that ingredient profiling differentiates product types.</a:t>
            </a:r>
          </a:p>
        </p:txBody>
      </p:sp>
      <p:sp>
        <p:nvSpPr>
          <p:cNvPr id="4" name="Slide Number Placeholder 3"/>
          <p:cNvSpPr>
            <a:spLocks noGrp="1"/>
          </p:cNvSpPr>
          <p:nvPr>
            <p:ph type="sldNum" sz="quarter" idx="5"/>
          </p:nvPr>
        </p:nvSpPr>
        <p:spPr/>
        <p:txBody>
          <a:bodyPr/>
          <a:lstStyle/>
          <a:p>
            <a:fld id="{F0B12093-7159-4C14-B6F0-1224F694601E}" type="slidenum">
              <a:rPr lang="en-US" smtClean="0"/>
              <a:t>10</a:t>
            </a:fld>
            <a:endParaRPr lang="en-US"/>
          </a:p>
        </p:txBody>
      </p:sp>
    </p:spTree>
    <p:extLst>
      <p:ext uri="{BB962C8B-B14F-4D97-AF65-F5344CB8AC3E}">
        <p14:creationId xmlns:p14="http://schemas.microsoft.com/office/powerpoint/2010/main" val="2015034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FDA was used as a validation layer to ensure the additives analyzed exist in formal regulatory documentation.</a:t>
            </a:r>
          </a:p>
        </p:txBody>
      </p:sp>
      <p:sp>
        <p:nvSpPr>
          <p:cNvPr id="4" name="Slide Number Placeholder 3"/>
          <p:cNvSpPr>
            <a:spLocks noGrp="1"/>
          </p:cNvSpPr>
          <p:nvPr>
            <p:ph type="sldNum" sz="quarter" idx="5"/>
          </p:nvPr>
        </p:nvSpPr>
        <p:spPr/>
        <p:txBody>
          <a:bodyPr/>
          <a:lstStyle/>
          <a:p>
            <a:fld id="{F0B12093-7159-4C14-B6F0-1224F694601E}" type="slidenum">
              <a:rPr lang="en-US" smtClean="0"/>
              <a:t>11</a:t>
            </a:fld>
            <a:endParaRPr lang="en-US"/>
          </a:p>
        </p:txBody>
      </p:sp>
    </p:spTree>
    <p:extLst>
      <p:ext uri="{BB962C8B-B14F-4D97-AF65-F5344CB8AC3E}">
        <p14:creationId xmlns:p14="http://schemas.microsoft.com/office/powerpoint/2010/main" val="3019076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CTD Weight Definition:</a:t>
            </a:r>
          </a:p>
          <a:p>
            <a:r>
              <a:rPr lang="en-US" dirty="0" err="1"/>
              <a:t>disease_count</a:t>
            </a:r>
            <a:r>
              <a:rPr lang="en-US" dirty="0"/>
              <a:t> = unique diseases linked to chemical</a:t>
            </a:r>
            <a:br>
              <a:rPr lang="en-US" dirty="0"/>
            </a:br>
            <a:r>
              <a:rPr lang="en-US" dirty="0"/>
              <a:t>weight = log(1 + </a:t>
            </a:r>
            <a:r>
              <a:rPr lang="en-US" dirty="0" err="1"/>
              <a:t>disease_count</a:t>
            </a:r>
            <a:r>
              <a:rPr lang="en-US" dirty="0"/>
              <a:t>)</a:t>
            </a:r>
          </a:p>
          <a:p>
            <a:r>
              <a:rPr lang="en-US" dirty="0"/>
              <a:t>This represents:</a:t>
            </a:r>
          </a:p>
          <a:p>
            <a:pPr>
              <a:buFont typeface="Arial" panose="020B0604020202020204" pitchFamily="34" charset="0"/>
              <a:buChar char="•"/>
            </a:pPr>
            <a:r>
              <a:rPr lang="en-US" dirty="0"/>
              <a:t>Breadth of documented toxicogenomic interaction</a:t>
            </a:r>
          </a:p>
          <a:p>
            <a:pPr>
              <a:buFont typeface="Arial" panose="020B0604020202020204" pitchFamily="34" charset="0"/>
              <a:buChar char="•"/>
            </a:pPr>
            <a:r>
              <a:rPr lang="en-US" dirty="0"/>
              <a:t>Research connectivity</a:t>
            </a:r>
          </a:p>
          <a:p>
            <a:pPr>
              <a:buFont typeface="Arial" panose="020B0604020202020204" pitchFamily="34" charset="0"/>
              <a:buChar char="•"/>
            </a:pPr>
            <a:r>
              <a:rPr lang="en-US" dirty="0"/>
              <a:t>Mechanistic diversity</a:t>
            </a:r>
          </a:p>
          <a:p>
            <a:r>
              <a:rPr lang="en-US" b="1" dirty="0"/>
              <a:t>Important:</a:t>
            </a:r>
            <a:br>
              <a:rPr lang="en-US" dirty="0"/>
            </a:br>
            <a:r>
              <a:rPr lang="en-US" dirty="0"/>
              <a:t>NOT a toxicity classification</a:t>
            </a:r>
            <a:br>
              <a:rPr lang="en-US" dirty="0"/>
            </a:br>
            <a:r>
              <a:rPr lang="en-US" dirty="0"/>
              <a:t>NOT proof of causation</a:t>
            </a:r>
          </a:p>
          <a:p>
            <a:endParaRPr lang="en-US" dirty="0"/>
          </a:p>
        </p:txBody>
      </p:sp>
      <p:sp>
        <p:nvSpPr>
          <p:cNvPr id="4" name="Slide Number Placeholder 3"/>
          <p:cNvSpPr>
            <a:spLocks noGrp="1"/>
          </p:cNvSpPr>
          <p:nvPr>
            <p:ph type="sldNum" sz="quarter" idx="5"/>
          </p:nvPr>
        </p:nvSpPr>
        <p:spPr/>
        <p:txBody>
          <a:bodyPr/>
          <a:lstStyle/>
          <a:p>
            <a:fld id="{F0B12093-7159-4C14-B6F0-1224F694601E}" type="slidenum">
              <a:rPr lang="en-US" smtClean="0"/>
              <a:t>12</a:t>
            </a:fld>
            <a:endParaRPr lang="en-US"/>
          </a:p>
        </p:txBody>
      </p:sp>
    </p:spTree>
    <p:extLst>
      <p:ext uri="{BB962C8B-B14F-4D97-AF65-F5344CB8AC3E}">
        <p14:creationId xmlns:p14="http://schemas.microsoft.com/office/powerpoint/2010/main" val="1541137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prevents long ingredient lists from inflating risk unfairly.</a:t>
            </a:r>
          </a:p>
        </p:txBody>
      </p:sp>
      <p:sp>
        <p:nvSpPr>
          <p:cNvPr id="4" name="Slide Number Placeholder 3"/>
          <p:cNvSpPr>
            <a:spLocks noGrp="1"/>
          </p:cNvSpPr>
          <p:nvPr>
            <p:ph type="sldNum" sz="quarter" idx="5"/>
          </p:nvPr>
        </p:nvSpPr>
        <p:spPr/>
        <p:txBody>
          <a:bodyPr/>
          <a:lstStyle/>
          <a:p>
            <a:fld id="{F0B12093-7159-4C14-B6F0-1224F694601E}" type="slidenum">
              <a:rPr lang="en-US" smtClean="0"/>
              <a:t>13</a:t>
            </a:fld>
            <a:endParaRPr lang="en-US"/>
          </a:p>
        </p:txBody>
      </p:sp>
    </p:spTree>
    <p:extLst>
      <p:ext uri="{BB962C8B-B14F-4D97-AF65-F5344CB8AC3E}">
        <p14:creationId xmlns:p14="http://schemas.microsoft.com/office/powerpoint/2010/main" val="1252352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pipeline is validated structurally, but full CTD parsing requires complete dataset indexing and expanded alias mapping.</a:t>
            </a:r>
          </a:p>
          <a:p>
            <a:r>
              <a:rPr lang="en-US" dirty="0"/>
              <a:t>Transparency earns credibility.</a:t>
            </a:r>
          </a:p>
          <a:p>
            <a:endParaRPr lang="en-US" dirty="0"/>
          </a:p>
        </p:txBody>
      </p:sp>
      <p:sp>
        <p:nvSpPr>
          <p:cNvPr id="4" name="Slide Number Placeholder 3"/>
          <p:cNvSpPr>
            <a:spLocks noGrp="1"/>
          </p:cNvSpPr>
          <p:nvPr>
            <p:ph type="sldNum" sz="quarter" idx="5"/>
          </p:nvPr>
        </p:nvSpPr>
        <p:spPr/>
        <p:txBody>
          <a:bodyPr/>
          <a:lstStyle/>
          <a:p>
            <a:fld id="{F0B12093-7159-4C14-B6F0-1224F694601E}" type="slidenum">
              <a:rPr lang="en-US" smtClean="0"/>
              <a:t>14</a:t>
            </a:fld>
            <a:endParaRPr lang="en-US"/>
          </a:p>
        </p:txBody>
      </p:sp>
    </p:spTree>
    <p:extLst>
      <p:ext uri="{BB962C8B-B14F-4D97-AF65-F5344CB8AC3E}">
        <p14:creationId xmlns:p14="http://schemas.microsoft.com/office/powerpoint/2010/main" val="2220991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Roboto" panose="02000000000000000000" pitchFamily="2" charset="0"/>
              </a:rPr>
              <a:t>The Kruskal-Wallis test is a nonparametric statistical test used to determine whether there are significant differences between the medians of three or more independent groups.</a:t>
            </a:r>
            <a:endParaRPr lang="en-US" dirty="0"/>
          </a:p>
        </p:txBody>
      </p:sp>
      <p:sp>
        <p:nvSpPr>
          <p:cNvPr id="4" name="Slide Number Placeholder 3"/>
          <p:cNvSpPr>
            <a:spLocks noGrp="1"/>
          </p:cNvSpPr>
          <p:nvPr>
            <p:ph type="sldNum" sz="quarter" idx="5"/>
          </p:nvPr>
        </p:nvSpPr>
        <p:spPr/>
        <p:txBody>
          <a:bodyPr/>
          <a:lstStyle/>
          <a:p>
            <a:fld id="{F0B12093-7159-4C14-B6F0-1224F694601E}" type="slidenum">
              <a:rPr lang="en-US" smtClean="0"/>
              <a:t>15</a:t>
            </a:fld>
            <a:endParaRPr lang="en-US"/>
          </a:p>
        </p:txBody>
      </p:sp>
    </p:spTree>
    <p:extLst>
      <p:ext uri="{BB962C8B-B14F-4D97-AF65-F5344CB8AC3E}">
        <p14:creationId xmlns:p14="http://schemas.microsoft.com/office/powerpoint/2010/main" val="1676903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performed univariate analysis to understand ingredient complexity and additive prevalence independently.</a:t>
            </a:r>
            <a:br>
              <a:rPr lang="en-US" dirty="0"/>
            </a:br>
            <a:r>
              <a:rPr lang="en-US" dirty="0"/>
              <a:t>We then extended this into multivariate analysis by comparing snack families statistically and integrating toxicogenomic evidence to construct a biologically contextualized risk framework.</a:t>
            </a:r>
          </a:p>
        </p:txBody>
      </p:sp>
      <p:sp>
        <p:nvSpPr>
          <p:cNvPr id="4" name="Slide Number Placeholder 3"/>
          <p:cNvSpPr>
            <a:spLocks noGrp="1"/>
          </p:cNvSpPr>
          <p:nvPr>
            <p:ph type="sldNum" sz="quarter" idx="5"/>
          </p:nvPr>
        </p:nvSpPr>
        <p:spPr/>
        <p:txBody>
          <a:bodyPr/>
          <a:lstStyle/>
          <a:p>
            <a:fld id="{F0B12093-7159-4C14-B6F0-1224F694601E}" type="slidenum">
              <a:rPr lang="en-US" smtClean="0"/>
              <a:t>16</a:t>
            </a:fld>
            <a:endParaRPr lang="en-US"/>
          </a:p>
        </p:txBody>
      </p:sp>
    </p:spTree>
    <p:extLst>
      <p:ext uri="{BB962C8B-B14F-4D97-AF65-F5344CB8AC3E}">
        <p14:creationId xmlns:p14="http://schemas.microsoft.com/office/powerpoint/2010/main" val="1239530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Roboto" panose="02000000000000000000" pitchFamily="2" charset="0"/>
              </a:rPr>
              <a:t>The Kruskal-Wallis test is a nonparametric statistical test used to determine whether there are significant differences between the medians of three or more independent groups.</a:t>
            </a:r>
            <a:endParaRPr lang="en-US" dirty="0"/>
          </a:p>
        </p:txBody>
      </p:sp>
      <p:sp>
        <p:nvSpPr>
          <p:cNvPr id="4" name="Slide Number Placeholder 3"/>
          <p:cNvSpPr>
            <a:spLocks noGrp="1"/>
          </p:cNvSpPr>
          <p:nvPr>
            <p:ph type="sldNum" sz="quarter" idx="5"/>
          </p:nvPr>
        </p:nvSpPr>
        <p:spPr/>
        <p:txBody>
          <a:bodyPr/>
          <a:lstStyle/>
          <a:p>
            <a:fld id="{F0B12093-7159-4C14-B6F0-1224F694601E}" type="slidenum">
              <a:rPr lang="en-US" smtClean="0"/>
              <a:t>17</a:t>
            </a:fld>
            <a:endParaRPr lang="en-US"/>
          </a:p>
        </p:txBody>
      </p:sp>
    </p:spTree>
    <p:extLst>
      <p:ext uri="{BB962C8B-B14F-4D97-AF65-F5344CB8AC3E}">
        <p14:creationId xmlns:p14="http://schemas.microsoft.com/office/powerpoint/2010/main" val="1788430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your dependent variable?”</a:t>
            </a:r>
          </a:p>
          <a:p>
            <a:r>
              <a:rPr lang="en-US" dirty="0"/>
              <a:t>Answer:</a:t>
            </a:r>
          </a:p>
          <a:p>
            <a:r>
              <a:rPr lang="en-US" dirty="0"/>
              <a:t>Category-level additive prevalence and evidence-weighted additive burden.</a:t>
            </a:r>
          </a:p>
          <a:p>
            <a:endParaRPr lang="en-US" dirty="0"/>
          </a:p>
        </p:txBody>
      </p:sp>
      <p:sp>
        <p:nvSpPr>
          <p:cNvPr id="4" name="Slide Number Placeholder 3"/>
          <p:cNvSpPr>
            <a:spLocks noGrp="1"/>
          </p:cNvSpPr>
          <p:nvPr>
            <p:ph type="sldNum" sz="quarter" idx="5"/>
          </p:nvPr>
        </p:nvSpPr>
        <p:spPr/>
        <p:txBody>
          <a:bodyPr/>
          <a:lstStyle/>
          <a:p>
            <a:fld id="{F0B12093-7159-4C14-B6F0-1224F694601E}" type="slidenum">
              <a:rPr lang="en-US" smtClean="0"/>
              <a:t>19</a:t>
            </a:fld>
            <a:endParaRPr lang="en-US"/>
          </a:p>
        </p:txBody>
      </p:sp>
    </p:spTree>
    <p:extLst>
      <p:ext uri="{BB962C8B-B14F-4D97-AF65-F5344CB8AC3E}">
        <p14:creationId xmlns:p14="http://schemas.microsoft.com/office/powerpoint/2010/main" val="3833353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A7084440-D710-4A7B-8351-829CE740223D}" type="datetimeFigureOut">
              <a:rPr lang="en-US" smtClean="0"/>
              <a:t>2/24/2026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7ED2748-6707-45DA-9B7F-889B77990709}"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500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084440-D710-4A7B-8351-829CE740223D}"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3866659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084440-D710-4A7B-8351-829CE740223D}"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ED2748-6707-45DA-9B7F-889B77990709}"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8807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084440-D710-4A7B-8351-829CE740223D}"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2192281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084440-D710-4A7B-8351-829CE740223D}"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1687557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084440-D710-4A7B-8351-829CE740223D}"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347916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084440-D710-4A7B-8351-829CE740223D}"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3653924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084440-D710-4A7B-8351-829CE740223D}"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302091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084440-D710-4A7B-8351-829CE740223D}"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2296506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084440-D710-4A7B-8351-829CE740223D}"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2410483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084440-D710-4A7B-8351-829CE740223D}"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ED2748-6707-45DA-9B7F-889B77990709}" type="slidenum">
              <a:rPr lang="en-US" smtClean="0"/>
              <a:t>‹#›</a:t>
            </a:fld>
            <a:endParaRPr lang="en-US"/>
          </a:p>
        </p:txBody>
      </p:sp>
    </p:spTree>
    <p:extLst>
      <p:ext uri="{BB962C8B-B14F-4D97-AF65-F5344CB8AC3E}">
        <p14:creationId xmlns:p14="http://schemas.microsoft.com/office/powerpoint/2010/main" val="1564982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A7084440-D710-4A7B-8351-829CE740223D}" type="datetimeFigureOut">
              <a:rPr lang="en-US" smtClean="0"/>
              <a:t>2/24/2026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B7ED2748-6707-45DA-9B7F-889B77990709}" type="slidenum">
              <a:rPr lang="en-US" smtClean="0"/>
              <a:t>‹#›</a:t>
            </a:fld>
            <a:endParaRPr lang="en-US"/>
          </a:p>
        </p:txBody>
      </p:sp>
    </p:spTree>
    <p:extLst>
      <p:ext uri="{BB962C8B-B14F-4D97-AF65-F5344CB8AC3E}">
        <p14:creationId xmlns:p14="http://schemas.microsoft.com/office/powerpoint/2010/main" val="546326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7CA9-754D-41D5-9245-0DF50C773FC5}"/>
              </a:ext>
            </a:extLst>
          </p:cNvPr>
          <p:cNvSpPr>
            <a:spLocks noGrp="1"/>
          </p:cNvSpPr>
          <p:nvPr>
            <p:ph type="ctrTitle"/>
          </p:nvPr>
        </p:nvSpPr>
        <p:spPr/>
        <p:txBody>
          <a:bodyPr/>
          <a:lstStyle/>
          <a:p>
            <a:r>
              <a:rPr lang="en-US" b="0" i="0" dirty="0">
                <a:solidFill>
                  <a:srgbClr val="0A0A0A"/>
                </a:solidFill>
                <a:effectLst/>
                <a:latin typeface="LatoWeb"/>
              </a:rPr>
              <a:t>Exploratory Data Analysis</a:t>
            </a:r>
            <a:endParaRPr lang="en-US" dirty="0"/>
          </a:p>
        </p:txBody>
      </p:sp>
      <p:sp>
        <p:nvSpPr>
          <p:cNvPr id="3" name="Subtitle 2">
            <a:extLst>
              <a:ext uri="{FF2B5EF4-FFF2-40B4-BE49-F238E27FC236}">
                <a16:creationId xmlns:a16="http://schemas.microsoft.com/office/drawing/2014/main" id="{22AD58E8-42A9-4716-AFB1-84723763E808}"/>
              </a:ext>
            </a:extLst>
          </p:cNvPr>
          <p:cNvSpPr>
            <a:spLocks noGrp="1"/>
          </p:cNvSpPr>
          <p:nvPr>
            <p:ph type="subTitle" idx="1"/>
          </p:nvPr>
        </p:nvSpPr>
        <p:spPr/>
        <p:txBody>
          <a:bodyPr/>
          <a:lstStyle/>
          <a:p>
            <a:r>
              <a:rPr lang="en-US" dirty="0"/>
              <a:t>Zach Edward</a:t>
            </a:r>
            <a:br>
              <a:rPr lang="en-US" dirty="0"/>
            </a:br>
            <a:r>
              <a:rPr lang="en-US" dirty="0"/>
              <a:t>Sai Lavanya Puthila</a:t>
            </a:r>
          </a:p>
        </p:txBody>
      </p:sp>
    </p:spTree>
    <p:extLst>
      <p:ext uri="{BB962C8B-B14F-4D97-AF65-F5344CB8AC3E}">
        <p14:creationId xmlns:p14="http://schemas.microsoft.com/office/powerpoint/2010/main" val="77147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E216-F55C-4DE9-806A-60381FED1F9B}"/>
              </a:ext>
            </a:extLst>
          </p:cNvPr>
          <p:cNvSpPr>
            <a:spLocks noGrp="1"/>
          </p:cNvSpPr>
          <p:nvPr>
            <p:ph type="title"/>
          </p:nvPr>
        </p:nvSpPr>
        <p:spPr/>
        <p:txBody>
          <a:bodyPr/>
          <a:lstStyle/>
          <a:p>
            <a:r>
              <a:rPr lang="en-US" dirty="0"/>
              <a:t>Research Problem</a:t>
            </a:r>
          </a:p>
        </p:txBody>
      </p:sp>
      <p:sp>
        <p:nvSpPr>
          <p:cNvPr id="4" name="Rectangle 1">
            <a:extLst>
              <a:ext uri="{FF2B5EF4-FFF2-40B4-BE49-F238E27FC236}">
                <a16:creationId xmlns:a16="http://schemas.microsoft.com/office/drawing/2014/main" id="{20A91A45-BC7D-4EAA-8F72-AD2B4468FFC5}"/>
              </a:ext>
            </a:extLst>
          </p:cNvPr>
          <p:cNvSpPr>
            <a:spLocks noGrp="1" noChangeArrowheads="1"/>
          </p:cNvSpPr>
          <p:nvPr>
            <p:ph idx="1"/>
          </p:nvPr>
        </p:nvSpPr>
        <p:spPr bwMode="auto">
          <a:xfrm>
            <a:off x="1143000" y="2130759"/>
            <a:ext cx="9906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Processed snacks contain numerous chemical additives.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Consumers lack transparent biological-context risk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Existing apps use heuristic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No open, reproducible integration of ingredient data with toxicogenomic evidence.</a:t>
            </a:r>
          </a:p>
        </p:txBody>
      </p:sp>
    </p:spTree>
    <p:extLst>
      <p:ext uri="{BB962C8B-B14F-4D97-AF65-F5344CB8AC3E}">
        <p14:creationId xmlns:p14="http://schemas.microsoft.com/office/powerpoint/2010/main" val="3232574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11125-2EA7-4534-B183-6FC0BA8219F5}"/>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259D5AF1-86A1-4722-874E-1110890ADB68}"/>
              </a:ext>
            </a:extLst>
          </p:cNvPr>
          <p:cNvSpPr>
            <a:spLocks noGrp="1"/>
          </p:cNvSpPr>
          <p:nvPr>
            <p:ph idx="1"/>
          </p:nvPr>
        </p:nvSpPr>
        <p:spPr/>
        <p:txBody>
          <a:bodyPr/>
          <a:lstStyle/>
          <a:p>
            <a:pPr>
              <a:buFont typeface="+mj-lt"/>
              <a:buAutoNum type="arabicPeriod"/>
            </a:pPr>
            <a:r>
              <a:rPr lang="en-US" dirty="0">
                <a:solidFill>
                  <a:schemeClr val="tx1"/>
                </a:solidFill>
              </a:rPr>
              <a:t>Filter and structure real-world snack product data</a:t>
            </a:r>
          </a:p>
          <a:p>
            <a:pPr>
              <a:buFont typeface="+mj-lt"/>
              <a:buAutoNum type="arabicPeriod"/>
            </a:pPr>
            <a:r>
              <a:rPr lang="en-US" dirty="0">
                <a:solidFill>
                  <a:schemeClr val="tx1"/>
                </a:solidFill>
              </a:rPr>
              <a:t>Parse ingredient lists using NLP-style tokenization</a:t>
            </a:r>
          </a:p>
          <a:p>
            <a:pPr>
              <a:buFont typeface="+mj-lt"/>
              <a:buAutoNum type="arabicPeriod"/>
            </a:pPr>
            <a:r>
              <a:rPr lang="en-US" dirty="0">
                <a:solidFill>
                  <a:schemeClr val="tx1"/>
                </a:solidFill>
              </a:rPr>
              <a:t>Quantify additive prevalence by snack family</a:t>
            </a:r>
          </a:p>
          <a:p>
            <a:pPr>
              <a:buFont typeface="+mj-lt"/>
              <a:buAutoNum type="arabicPeriod"/>
            </a:pPr>
            <a:r>
              <a:rPr lang="en-US" dirty="0">
                <a:solidFill>
                  <a:schemeClr val="tx1"/>
                </a:solidFill>
              </a:rPr>
              <a:t>Integrate CTD disease connectivity evidence</a:t>
            </a:r>
          </a:p>
          <a:p>
            <a:pPr>
              <a:buFont typeface="+mj-lt"/>
              <a:buAutoNum type="arabicPeriod"/>
            </a:pPr>
            <a:r>
              <a:rPr lang="en-US" dirty="0">
                <a:solidFill>
                  <a:schemeClr val="tx1"/>
                </a:solidFill>
              </a:rPr>
              <a:t>Construct a transparent risk prioritization framework</a:t>
            </a:r>
          </a:p>
          <a:p>
            <a:pPr marL="45720" indent="0">
              <a:buNone/>
            </a:pPr>
            <a:endParaRPr lang="en-US" dirty="0"/>
          </a:p>
        </p:txBody>
      </p:sp>
    </p:spTree>
    <p:extLst>
      <p:ext uri="{BB962C8B-B14F-4D97-AF65-F5344CB8AC3E}">
        <p14:creationId xmlns:p14="http://schemas.microsoft.com/office/powerpoint/2010/main" val="1688917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FDD5-6691-4F8E-9DDC-E8CE343FA9EF}"/>
              </a:ext>
            </a:extLst>
          </p:cNvPr>
          <p:cNvSpPr>
            <a:spLocks noGrp="1"/>
          </p:cNvSpPr>
          <p:nvPr>
            <p:ph type="title"/>
          </p:nvPr>
        </p:nvSpPr>
        <p:spPr/>
        <p:txBody>
          <a:bodyPr/>
          <a:lstStyle/>
          <a:p>
            <a:r>
              <a:rPr lang="en-US" dirty="0"/>
              <a:t>Narrowed Scope</a:t>
            </a:r>
          </a:p>
        </p:txBody>
      </p:sp>
      <p:sp>
        <p:nvSpPr>
          <p:cNvPr id="3" name="Content Placeholder 2">
            <a:extLst>
              <a:ext uri="{FF2B5EF4-FFF2-40B4-BE49-F238E27FC236}">
                <a16:creationId xmlns:a16="http://schemas.microsoft.com/office/drawing/2014/main" id="{FA2484F8-0659-4E59-9002-0982FF75103A}"/>
              </a:ext>
            </a:extLst>
          </p:cNvPr>
          <p:cNvSpPr>
            <a:spLocks noGrp="1"/>
          </p:cNvSpPr>
          <p:nvPr>
            <p:ph idx="1"/>
          </p:nvPr>
        </p:nvSpPr>
        <p:spPr/>
        <p:txBody>
          <a:bodyPr/>
          <a:lstStyle/>
          <a:p>
            <a:r>
              <a:rPr lang="en-US" b="1" dirty="0">
                <a:solidFill>
                  <a:schemeClr val="tx1"/>
                </a:solidFill>
              </a:rPr>
              <a:t>We restricted analysis to 3 snack families:</a:t>
            </a:r>
          </a:p>
          <a:p>
            <a:pPr>
              <a:buFont typeface="+mj-lt"/>
              <a:buAutoNum type="arabicPeriod"/>
            </a:pPr>
            <a:r>
              <a:rPr lang="en-US" dirty="0">
                <a:solidFill>
                  <a:schemeClr val="tx1"/>
                </a:solidFill>
              </a:rPr>
              <a:t>Chips &amp; Savory Crisps</a:t>
            </a:r>
          </a:p>
          <a:p>
            <a:pPr>
              <a:buFont typeface="+mj-lt"/>
              <a:buAutoNum type="arabicPeriod"/>
            </a:pPr>
            <a:r>
              <a:rPr lang="en-US" dirty="0">
                <a:solidFill>
                  <a:schemeClr val="tx1"/>
                </a:solidFill>
              </a:rPr>
              <a:t>Cookies &amp; Biscuits</a:t>
            </a:r>
          </a:p>
          <a:p>
            <a:pPr>
              <a:buFont typeface="+mj-lt"/>
              <a:buAutoNum type="arabicPeriod"/>
            </a:pPr>
            <a:r>
              <a:rPr lang="en-US" dirty="0">
                <a:solidFill>
                  <a:schemeClr val="tx1"/>
                </a:solidFill>
              </a:rPr>
              <a:t>Candy-Type Snacks</a:t>
            </a:r>
          </a:p>
          <a:p>
            <a:r>
              <a:rPr lang="en-US" b="1" dirty="0">
                <a:solidFill>
                  <a:schemeClr val="tx1"/>
                </a:solidFill>
              </a:rPr>
              <a:t>Focused on 3 representative additives:</a:t>
            </a:r>
          </a:p>
          <a:p>
            <a:pPr marL="502920" indent="-457200">
              <a:buFont typeface="+mj-lt"/>
              <a:buAutoNum type="arabicPeriod"/>
            </a:pPr>
            <a:r>
              <a:rPr lang="en-US" dirty="0">
                <a:solidFill>
                  <a:schemeClr val="tx1"/>
                </a:solidFill>
              </a:rPr>
              <a:t>Acesulfame Potassium (sweetener)</a:t>
            </a:r>
          </a:p>
          <a:p>
            <a:pPr marL="502920" indent="-457200">
              <a:buFont typeface="+mj-lt"/>
              <a:buAutoNum type="arabicPeriod"/>
            </a:pPr>
            <a:r>
              <a:rPr lang="en-US" dirty="0">
                <a:solidFill>
                  <a:schemeClr val="tx1"/>
                </a:solidFill>
              </a:rPr>
              <a:t>Sodium Benzoate (preservative)</a:t>
            </a:r>
          </a:p>
          <a:p>
            <a:pPr marL="502920" indent="-457200">
              <a:buFont typeface="+mj-lt"/>
              <a:buAutoNum type="arabicPeriod"/>
            </a:pPr>
            <a:r>
              <a:rPr lang="en-US" dirty="0">
                <a:solidFill>
                  <a:schemeClr val="tx1"/>
                </a:solidFill>
              </a:rPr>
              <a:t>Tartrazine / Yellow 5 (colorant)</a:t>
            </a:r>
          </a:p>
          <a:p>
            <a:pPr marL="45720" indent="0">
              <a:buNone/>
            </a:pPr>
            <a:endParaRPr lang="en-US" dirty="0"/>
          </a:p>
        </p:txBody>
      </p:sp>
    </p:spTree>
    <p:extLst>
      <p:ext uri="{BB962C8B-B14F-4D97-AF65-F5344CB8AC3E}">
        <p14:creationId xmlns:p14="http://schemas.microsoft.com/office/powerpoint/2010/main" val="183103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7423-BFAF-4FDC-BB56-5FB4BC4DB5EB}"/>
              </a:ext>
            </a:extLst>
          </p:cNvPr>
          <p:cNvSpPr>
            <a:spLocks noGrp="1"/>
          </p:cNvSpPr>
          <p:nvPr>
            <p:ph type="title"/>
          </p:nvPr>
        </p:nvSpPr>
        <p:spPr/>
        <p:txBody>
          <a:bodyPr/>
          <a:lstStyle/>
          <a:p>
            <a:r>
              <a:rPr lang="en-US" dirty="0"/>
              <a:t>Data Overview</a:t>
            </a:r>
          </a:p>
        </p:txBody>
      </p:sp>
      <p:sp>
        <p:nvSpPr>
          <p:cNvPr id="3" name="Content Placeholder 2">
            <a:extLst>
              <a:ext uri="{FF2B5EF4-FFF2-40B4-BE49-F238E27FC236}">
                <a16:creationId xmlns:a16="http://schemas.microsoft.com/office/drawing/2014/main" id="{50704434-5381-4FD8-8171-CB771B870E2D}"/>
              </a:ext>
            </a:extLst>
          </p:cNvPr>
          <p:cNvSpPr>
            <a:spLocks noGrp="1"/>
          </p:cNvSpPr>
          <p:nvPr>
            <p:ph idx="1"/>
          </p:nvPr>
        </p:nvSpPr>
        <p:spPr/>
        <p:txBody>
          <a:bodyPr/>
          <a:lstStyle/>
          <a:p>
            <a:r>
              <a:rPr lang="en-US" b="1" dirty="0">
                <a:solidFill>
                  <a:schemeClr val="tx1"/>
                </a:solidFill>
              </a:rPr>
              <a:t>Open Food Facts</a:t>
            </a:r>
          </a:p>
          <a:p>
            <a:pPr>
              <a:buFont typeface="Arial" panose="020B0604020202020204" pitchFamily="34" charset="0"/>
              <a:buChar char="•"/>
            </a:pPr>
            <a:r>
              <a:rPr lang="en-US" dirty="0">
                <a:solidFill>
                  <a:schemeClr val="tx1"/>
                </a:solidFill>
              </a:rPr>
              <a:t>~100,000 filtered products</a:t>
            </a:r>
          </a:p>
          <a:p>
            <a:pPr>
              <a:buFont typeface="Arial" panose="020B0604020202020204" pitchFamily="34" charset="0"/>
              <a:buChar char="•"/>
            </a:pPr>
            <a:r>
              <a:rPr lang="en-US" dirty="0">
                <a:solidFill>
                  <a:schemeClr val="tx1"/>
                </a:solidFill>
              </a:rPr>
              <a:t>Ingredient text + category tags</a:t>
            </a:r>
          </a:p>
          <a:p>
            <a:r>
              <a:rPr lang="en-US" b="1" dirty="0">
                <a:solidFill>
                  <a:schemeClr val="tx1"/>
                </a:solidFill>
              </a:rPr>
              <a:t>FDA </a:t>
            </a:r>
            <a:r>
              <a:rPr lang="en-US" b="1" dirty="0" err="1">
                <a:solidFill>
                  <a:schemeClr val="tx1"/>
                </a:solidFill>
              </a:rPr>
              <a:t>FoodSubstances</a:t>
            </a:r>
            <a:endParaRPr lang="en-US" b="1" dirty="0">
              <a:solidFill>
                <a:schemeClr val="tx1"/>
              </a:solidFill>
            </a:endParaRPr>
          </a:p>
          <a:p>
            <a:pPr>
              <a:buFont typeface="Arial" panose="020B0604020202020204" pitchFamily="34" charset="0"/>
              <a:buChar char="•"/>
            </a:pPr>
            <a:r>
              <a:rPr lang="en-US" dirty="0">
                <a:solidFill>
                  <a:schemeClr val="tx1"/>
                </a:solidFill>
              </a:rPr>
              <a:t>Regulatory normalization – 50,000</a:t>
            </a:r>
          </a:p>
          <a:p>
            <a:r>
              <a:rPr lang="en-US" b="1" dirty="0">
                <a:solidFill>
                  <a:schemeClr val="tx1"/>
                </a:solidFill>
              </a:rPr>
              <a:t>CTD (Comparative </a:t>
            </a:r>
            <a:r>
              <a:rPr lang="en-US" b="1" dirty="0" err="1">
                <a:solidFill>
                  <a:schemeClr val="tx1"/>
                </a:solidFill>
              </a:rPr>
              <a:t>Toxicogenomics</a:t>
            </a:r>
            <a:r>
              <a:rPr lang="en-US" b="1" dirty="0">
                <a:solidFill>
                  <a:schemeClr val="tx1"/>
                </a:solidFill>
              </a:rPr>
              <a:t> Database)</a:t>
            </a:r>
          </a:p>
          <a:p>
            <a:pPr>
              <a:buFont typeface="Arial" panose="020B0604020202020204" pitchFamily="34" charset="0"/>
              <a:buChar char="•"/>
            </a:pPr>
            <a:r>
              <a:rPr lang="en-US" dirty="0">
                <a:solidFill>
                  <a:schemeClr val="tx1"/>
                </a:solidFill>
              </a:rPr>
              <a:t>Chemical dictionary – 40,000</a:t>
            </a:r>
          </a:p>
          <a:p>
            <a:pPr>
              <a:buFont typeface="Arial" panose="020B0604020202020204" pitchFamily="34" charset="0"/>
              <a:buChar char="•"/>
            </a:pPr>
            <a:r>
              <a:rPr lang="en-US" dirty="0">
                <a:solidFill>
                  <a:schemeClr val="tx1"/>
                </a:solidFill>
              </a:rPr>
              <a:t>Chemical–disease associations – 50,000</a:t>
            </a:r>
          </a:p>
          <a:p>
            <a:pPr marL="45720" indent="0">
              <a:buNone/>
            </a:pPr>
            <a:endParaRPr lang="en-US" dirty="0"/>
          </a:p>
        </p:txBody>
      </p:sp>
    </p:spTree>
    <p:extLst>
      <p:ext uri="{BB962C8B-B14F-4D97-AF65-F5344CB8AC3E}">
        <p14:creationId xmlns:p14="http://schemas.microsoft.com/office/powerpoint/2010/main" val="2748680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1181-4AD6-4F8A-9BD7-282399F3B38C}"/>
              </a:ext>
            </a:extLst>
          </p:cNvPr>
          <p:cNvSpPr>
            <a:spLocks noGrp="1"/>
          </p:cNvSpPr>
          <p:nvPr>
            <p:ph type="title"/>
          </p:nvPr>
        </p:nvSpPr>
        <p:spPr/>
        <p:txBody>
          <a:bodyPr/>
          <a:lstStyle/>
          <a:p>
            <a:r>
              <a:rPr lang="en-US" dirty="0"/>
              <a:t>Data Cleaning</a:t>
            </a:r>
          </a:p>
        </p:txBody>
      </p:sp>
      <p:sp>
        <p:nvSpPr>
          <p:cNvPr id="7" name="Rectangle 4">
            <a:extLst>
              <a:ext uri="{FF2B5EF4-FFF2-40B4-BE49-F238E27FC236}">
                <a16:creationId xmlns:a16="http://schemas.microsoft.com/office/drawing/2014/main" id="{DD402519-7098-428B-BC3B-9A1AB34F6530}"/>
              </a:ext>
            </a:extLst>
          </p:cNvPr>
          <p:cNvSpPr>
            <a:spLocks noGrp="1" noChangeArrowheads="1"/>
          </p:cNvSpPr>
          <p:nvPr>
            <p:ph idx="1"/>
          </p:nvPr>
        </p:nvSpPr>
        <p:spPr bwMode="auto">
          <a:xfrm>
            <a:off x="1143000" y="1662907"/>
            <a:ext cx="7516609"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rPr>
              <a:t>Handling Missing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Filtered out rows with missing </a:t>
            </a:r>
            <a:r>
              <a:rPr kumimoji="0" lang="en-US" altLang="en-US" sz="2000" b="0" i="0" u="none" strike="noStrike" cap="none" normalizeH="0" baseline="0" dirty="0" err="1">
                <a:ln>
                  <a:noFill/>
                </a:ln>
                <a:solidFill>
                  <a:schemeClr val="tx1"/>
                </a:solidFill>
                <a:effectLst/>
              </a:rPr>
              <a:t>ingredients_text</a:t>
            </a:r>
            <a:r>
              <a:rPr kumimoji="0" lang="en-US" altLang="en-US" sz="2000" b="0" i="0" u="none" strike="noStrike" cap="none" normalizeH="0" baseline="0" dirty="0">
                <a:ln>
                  <a:noFill/>
                </a:ln>
                <a:solidFill>
                  <a:schemeClr val="tx1"/>
                </a:solidFill>
                <a:effectLst/>
              </a:rPr>
              <a:t> (core analytical field)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Retained products with partial metadata (e.g., missing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Treated additive flags as binary indicators (absence = 0)</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1D1EA9E4-E199-4110-B6A1-0102EA02F9E9}"/>
              </a:ext>
            </a:extLst>
          </p:cNvPr>
          <p:cNvSpPr>
            <a:spLocks noChangeArrowheads="1"/>
          </p:cNvSpPr>
          <p:nvPr/>
        </p:nvSpPr>
        <p:spPr bwMode="auto">
          <a:xfrm>
            <a:off x="1167414" y="3034964"/>
            <a:ext cx="764941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rPr>
              <a:t>Handling Missing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Filtered out rows with missing </a:t>
            </a:r>
            <a:r>
              <a:rPr kumimoji="0" lang="en-US" altLang="en-US" sz="2000" b="0" i="0" u="none" strike="noStrike" cap="none" normalizeH="0" baseline="0" dirty="0" err="1">
                <a:ln>
                  <a:noFill/>
                </a:ln>
                <a:solidFill>
                  <a:schemeClr val="tx1"/>
                </a:solidFill>
                <a:effectLst/>
              </a:rPr>
              <a:t>ingredients_text</a:t>
            </a:r>
            <a:r>
              <a:rPr kumimoji="0" lang="en-US" altLang="en-US" sz="2000" b="0" i="0" u="none" strike="noStrike" cap="none" normalizeH="0" baseline="0" dirty="0">
                <a:ln>
                  <a:noFill/>
                </a:ln>
                <a:solidFill>
                  <a:schemeClr val="tx1"/>
                </a:solidFill>
                <a:effectLst/>
              </a:rPr>
              <a:t> (core analytical field)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Retained products with partial metadata (e.g., missing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Treated additive flags as binary indicators (absence = 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F4CAEB0F-0D82-400E-B24A-72F6C30423FB}"/>
              </a:ext>
            </a:extLst>
          </p:cNvPr>
          <p:cNvSpPr txBox="1"/>
          <p:nvPr/>
        </p:nvSpPr>
        <p:spPr>
          <a:xfrm>
            <a:off x="1167414" y="4539110"/>
            <a:ext cx="6094520" cy="1631216"/>
          </a:xfrm>
          <a:prstGeom prst="rect">
            <a:avLst/>
          </a:prstGeom>
          <a:noFill/>
        </p:spPr>
        <p:txBody>
          <a:bodyPr wrap="square">
            <a:spAutoFit/>
          </a:bodyPr>
          <a:lstStyle/>
          <a:p>
            <a:r>
              <a:rPr lang="en-US" sz="2000" b="1" dirty="0"/>
              <a:t>Handling Inconsistencies</a:t>
            </a:r>
          </a:p>
          <a:p>
            <a:pPr>
              <a:buFont typeface="Arial" panose="020B0604020202020204" pitchFamily="34" charset="0"/>
              <a:buChar char="•"/>
            </a:pPr>
            <a:r>
              <a:rPr lang="en-US" sz="2000" dirty="0"/>
              <a:t>Standardized text to lowercase</a:t>
            </a:r>
          </a:p>
          <a:p>
            <a:pPr>
              <a:buFont typeface="Arial" panose="020B0604020202020204" pitchFamily="34" charset="0"/>
              <a:buChar char="•"/>
            </a:pPr>
            <a:r>
              <a:rPr lang="en-US" sz="2000" dirty="0"/>
              <a:t>Removed parentheses and special characters</a:t>
            </a:r>
          </a:p>
          <a:p>
            <a:pPr>
              <a:buFont typeface="Arial" panose="020B0604020202020204" pitchFamily="34" charset="0"/>
              <a:buChar char="•"/>
            </a:pPr>
            <a:r>
              <a:rPr lang="en-US" sz="2000" dirty="0"/>
              <a:t>Tokenized ingredients by comma separation</a:t>
            </a:r>
          </a:p>
          <a:p>
            <a:pPr>
              <a:buFont typeface="Arial" panose="020B0604020202020204" pitchFamily="34" charset="0"/>
              <a:buChar char="•"/>
            </a:pPr>
            <a:r>
              <a:rPr lang="en-US" sz="2000" dirty="0"/>
              <a:t>Normalized chemical names using FDA reference set</a:t>
            </a:r>
          </a:p>
        </p:txBody>
      </p:sp>
    </p:spTree>
    <p:extLst>
      <p:ext uri="{BB962C8B-B14F-4D97-AF65-F5344CB8AC3E}">
        <p14:creationId xmlns:p14="http://schemas.microsoft.com/office/powerpoint/2010/main" val="2493308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7A80C-3187-423A-853E-AA20C8E361F1}"/>
              </a:ext>
            </a:extLst>
          </p:cNvPr>
          <p:cNvSpPr>
            <a:spLocks noGrp="1"/>
          </p:cNvSpPr>
          <p:nvPr>
            <p:ph type="title"/>
          </p:nvPr>
        </p:nvSpPr>
        <p:spPr/>
        <p:txBody>
          <a:bodyPr/>
          <a:lstStyle/>
          <a:p>
            <a:r>
              <a:rPr lang="en-US" dirty="0"/>
              <a:t>Feature Engineering</a:t>
            </a:r>
          </a:p>
        </p:txBody>
      </p:sp>
      <p:sp>
        <p:nvSpPr>
          <p:cNvPr id="4" name="Rectangle 1">
            <a:extLst>
              <a:ext uri="{FF2B5EF4-FFF2-40B4-BE49-F238E27FC236}">
                <a16:creationId xmlns:a16="http://schemas.microsoft.com/office/drawing/2014/main" id="{99EB8C9F-C6D1-4725-B7D7-7F944A7F93B1}"/>
              </a:ext>
            </a:extLst>
          </p:cNvPr>
          <p:cNvSpPr>
            <a:spLocks noGrp="1" noChangeArrowheads="1"/>
          </p:cNvSpPr>
          <p:nvPr>
            <p:ph idx="1"/>
          </p:nvPr>
        </p:nvSpPr>
        <p:spPr bwMode="auto">
          <a:xfrm>
            <a:off x="1173480" y="1797784"/>
            <a:ext cx="921724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rPr>
              <a:t>ingredient_count</a:t>
            </a:r>
            <a:r>
              <a:rPr kumimoji="0" lang="en-US" altLang="en-US" sz="2000" b="0" i="0" u="none" strike="noStrike" cap="none" normalizeH="0" baseline="0" dirty="0">
                <a:ln>
                  <a:noFill/>
                </a:ln>
                <a:solidFill>
                  <a:schemeClr val="tx1"/>
                </a:solidFill>
                <a:effectLst/>
              </a:rPr>
              <a:t> → proxy for formulation complexity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Binary additive flags (regex-based entity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CTD evidence weight: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                     weight=log(1+disease_count)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Risk normalization by ingredient count</a:t>
            </a:r>
          </a:p>
        </p:txBody>
      </p:sp>
    </p:spTree>
    <p:extLst>
      <p:ext uri="{BB962C8B-B14F-4D97-AF65-F5344CB8AC3E}">
        <p14:creationId xmlns:p14="http://schemas.microsoft.com/office/powerpoint/2010/main" val="3580898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33673-BD0E-4A9C-A860-C13A379A90AD}"/>
              </a:ext>
            </a:extLst>
          </p:cNvPr>
          <p:cNvSpPr>
            <a:spLocks noGrp="1"/>
          </p:cNvSpPr>
          <p:nvPr>
            <p:ph type="title"/>
          </p:nvPr>
        </p:nvSpPr>
        <p:spPr/>
        <p:txBody>
          <a:bodyPr/>
          <a:lstStyle/>
          <a:p>
            <a:r>
              <a:rPr lang="en-US" dirty="0"/>
              <a:t>Filtering &amp; Cleaning</a:t>
            </a:r>
          </a:p>
        </p:txBody>
      </p:sp>
      <p:sp>
        <p:nvSpPr>
          <p:cNvPr id="3" name="Content Placeholder 2">
            <a:extLst>
              <a:ext uri="{FF2B5EF4-FFF2-40B4-BE49-F238E27FC236}">
                <a16:creationId xmlns:a16="http://schemas.microsoft.com/office/drawing/2014/main" id="{1BC70A58-03FF-4AB5-8B34-D197D944AF09}"/>
              </a:ext>
            </a:extLst>
          </p:cNvPr>
          <p:cNvSpPr>
            <a:spLocks noGrp="1"/>
          </p:cNvSpPr>
          <p:nvPr>
            <p:ph idx="1"/>
          </p:nvPr>
        </p:nvSpPr>
        <p:spPr/>
        <p:txBody>
          <a:bodyPr/>
          <a:lstStyle/>
          <a:p>
            <a:pPr>
              <a:buFont typeface="Arial" panose="020B0604020202020204" pitchFamily="34" charset="0"/>
              <a:buChar char="•"/>
            </a:pPr>
            <a:r>
              <a:rPr lang="en-US" dirty="0">
                <a:solidFill>
                  <a:schemeClr val="tx1"/>
                </a:solidFill>
              </a:rPr>
              <a:t>Initial subset: 100,020</a:t>
            </a:r>
          </a:p>
          <a:p>
            <a:pPr>
              <a:buFont typeface="Arial" panose="020B0604020202020204" pitchFamily="34" charset="0"/>
              <a:buChar char="•"/>
            </a:pPr>
            <a:r>
              <a:rPr lang="en-US" dirty="0">
                <a:solidFill>
                  <a:schemeClr val="tx1"/>
                </a:solidFill>
              </a:rPr>
              <a:t>After deduplication: 99,893</a:t>
            </a:r>
          </a:p>
          <a:p>
            <a:pPr>
              <a:buFont typeface="Arial" panose="020B0604020202020204" pitchFamily="34" charset="0"/>
              <a:buChar char="•"/>
            </a:pPr>
            <a:r>
              <a:rPr lang="en-US" dirty="0">
                <a:solidFill>
                  <a:schemeClr val="tx1"/>
                </a:solidFill>
              </a:rPr>
              <a:t>Missing ingredient rows removed</a:t>
            </a:r>
          </a:p>
          <a:p>
            <a:r>
              <a:rPr lang="en-US" b="1" dirty="0">
                <a:solidFill>
                  <a:schemeClr val="tx1"/>
                </a:solidFill>
              </a:rPr>
              <a:t>Category distribution:</a:t>
            </a:r>
          </a:p>
          <a:p>
            <a:pPr>
              <a:buFont typeface="Arial" panose="020B0604020202020204" pitchFamily="34" charset="0"/>
              <a:buChar char="•"/>
            </a:pPr>
            <a:r>
              <a:rPr lang="en-US" dirty="0">
                <a:solidFill>
                  <a:schemeClr val="tx1"/>
                </a:solidFill>
              </a:rPr>
              <a:t>Cookies &amp; Biscuits: 73,140</a:t>
            </a:r>
          </a:p>
          <a:p>
            <a:pPr>
              <a:buFont typeface="Arial" panose="020B0604020202020204" pitchFamily="34" charset="0"/>
              <a:buChar char="•"/>
            </a:pPr>
            <a:r>
              <a:rPr lang="en-US" dirty="0">
                <a:solidFill>
                  <a:schemeClr val="tx1"/>
                </a:solidFill>
              </a:rPr>
              <a:t>Chips &amp; Savory: 21,216</a:t>
            </a:r>
          </a:p>
          <a:p>
            <a:pPr>
              <a:buFont typeface="Arial" panose="020B0604020202020204" pitchFamily="34" charset="0"/>
              <a:buChar char="•"/>
            </a:pPr>
            <a:r>
              <a:rPr lang="en-US" dirty="0">
                <a:solidFill>
                  <a:schemeClr val="tx1"/>
                </a:solidFill>
              </a:rPr>
              <a:t>Candy Snacks: 5,537</a:t>
            </a:r>
          </a:p>
          <a:p>
            <a:endParaRPr lang="en-US" dirty="0"/>
          </a:p>
        </p:txBody>
      </p:sp>
    </p:spTree>
    <p:extLst>
      <p:ext uri="{BB962C8B-B14F-4D97-AF65-F5344CB8AC3E}">
        <p14:creationId xmlns:p14="http://schemas.microsoft.com/office/powerpoint/2010/main" val="461994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1866C-DCE0-46C3-9C91-E1D41C7F126C}"/>
              </a:ext>
            </a:extLst>
          </p:cNvPr>
          <p:cNvSpPr>
            <a:spLocks noGrp="1"/>
          </p:cNvSpPr>
          <p:nvPr>
            <p:ph type="title"/>
          </p:nvPr>
        </p:nvSpPr>
        <p:spPr/>
        <p:txBody>
          <a:bodyPr/>
          <a:lstStyle/>
          <a:p>
            <a:r>
              <a:rPr lang="en-US" dirty="0"/>
              <a:t>Ingredient Parsing</a:t>
            </a:r>
          </a:p>
        </p:txBody>
      </p:sp>
      <p:sp>
        <p:nvSpPr>
          <p:cNvPr id="3" name="Content Placeholder 2">
            <a:extLst>
              <a:ext uri="{FF2B5EF4-FFF2-40B4-BE49-F238E27FC236}">
                <a16:creationId xmlns:a16="http://schemas.microsoft.com/office/drawing/2014/main" id="{E61BCA87-11E3-421F-9BA5-EDFF1B6C32EA}"/>
              </a:ext>
            </a:extLst>
          </p:cNvPr>
          <p:cNvSpPr>
            <a:spLocks noGrp="1"/>
          </p:cNvSpPr>
          <p:nvPr>
            <p:ph idx="1"/>
          </p:nvPr>
        </p:nvSpPr>
        <p:spPr/>
        <p:txBody>
          <a:bodyPr/>
          <a:lstStyle/>
          <a:p>
            <a:pPr>
              <a:buFont typeface="Arial" panose="020B0604020202020204" pitchFamily="34" charset="0"/>
              <a:buChar char="•"/>
            </a:pPr>
            <a:r>
              <a:rPr lang="en-US" dirty="0">
                <a:solidFill>
                  <a:schemeClr val="tx1"/>
                </a:solidFill>
              </a:rPr>
              <a:t>Regex-based cleaning</a:t>
            </a:r>
          </a:p>
          <a:p>
            <a:pPr>
              <a:buFont typeface="Arial" panose="020B0604020202020204" pitchFamily="34" charset="0"/>
              <a:buChar char="•"/>
            </a:pPr>
            <a:r>
              <a:rPr lang="en-US" dirty="0">
                <a:solidFill>
                  <a:schemeClr val="tx1"/>
                </a:solidFill>
              </a:rPr>
              <a:t>Parentheses removed</a:t>
            </a:r>
          </a:p>
          <a:p>
            <a:pPr>
              <a:buFont typeface="Arial" panose="020B0604020202020204" pitchFamily="34" charset="0"/>
              <a:buChar char="•"/>
            </a:pPr>
            <a:r>
              <a:rPr lang="en-US" dirty="0">
                <a:solidFill>
                  <a:schemeClr val="tx1"/>
                </a:solidFill>
              </a:rPr>
              <a:t>Tokens split by commas</a:t>
            </a:r>
          </a:p>
          <a:p>
            <a:pPr>
              <a:buFont typeface="Arial" panose="020B0604020202020204" pitchFamily="34" charset="0"/>
              <a:buChar char="•"/>
            </a:pPr>
            <a:r>
              <a:rPr lang="en-US" dirty="0">
                <a:solidFill>
                  <a:schemeClr val="tx1"/>
                </a:solidFill>
              </a:rPr>
              <a:t>Ingredient count calculated</a:t>
            </a:r>
          </a:p>
          <a:p>
            <a:r>
              <a:rPr lang="en-US" b="1" dirty="0">
                <a:solidFill>
                  <a:schemeClr val="tx1"/>
                </a:solidFill>
              </a:rPr>
              <a:t>Ingredient Complexity (Mean Count):</a:t>
            </a:r>
          </a:p>
          <a:p>
            <a:pPr>
              <a:buFont typeface="Arial" panose="020B0604020202020204" pitchFamily="34" charset="0"/>
              <a:buChar char="•"/>
            </a:pPr>
            <a:r>
              <a:rPr lang="en-US" dirty="0">
                <a:solidFill>
                  <a:schemeClr val="tx1"/>
                </a:solidFill>
              </a:rPr>
              <a:t>Cookies &amp; Biscuits ≈ 14</a:t>
            </a:r>
          </a:p>
          <a:p>
            <a:pPr>
              <a:buFont typeface="Arial" panose="020B0604020202020204" pitchFamily="34" charset="0"/>
              <a:buChar char="•"/>
            </a:pPr>
            <a:r>
              <a:rPr lang="en-US" dirty="0">
                <a:solidFill>
                  <a:schemeClr val="tx1"/>
                </a:solidFill>
              </a:rPr>
              <a:t>Candy Snacks ≈ 9.9</a:t>
            </a:r>
          </a:p>
          <a:p>
            <a:pPr>
              <a:buFont typeface="Arial" panose="020B0604020202020204" pitchFamily="34" charset="0"/>
              <a:buChar char="•"/>
            </a:pPr>
            <a:r>
              <a:rPr lang="en-US" dirty="0">
                <a:solidFill>
                  <a:schemeClr val="tx1"/>
                </a:solidFill>
              </a:rPr>
              <a:t>Chips &amp; Savory ≈ 8.4</a:t>
            </a:r>
          </a:p>
          <a:p>
            <a:endParaRPr lang="en-US" dirty="0"/>
          </a:p>
        </p:txBody>
      </p:sp>
    </p:spTree>
    <p:extLst>
      <p:ext uri="{BB962C8B-B14F-4D97-AF65-F5344CB8AC3E}">
        <p14:creationId xmlns:p14="http://schemas.microsoft.com/office/powerpoint/2010/main" val="3755752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0004-F1AF-4BD5-A177-512525C68D9E}"/>
              </a:ext>
            </a:extLst>
          </p:cNvPr>
          <p:cNvSpPr>
            <a:spLocks noGrp="1"/>
          </p:cNvSpPr>
          <p:nvPr>
            <p:ph type="title"/>
          </p:nvPr>
        </p:nvSpPr>
        <p:spPr/>
        <p:txBody>
          <a:bodyPr/>
          <a:lstStyle/>
          <a:p>
            <a:r>
              <a:rPr lang="en-US" dirty="0"/>
              <a:t>Target Additive Prevalence</a:t>
            </a:r>
          </a:p>
        </p:txBody>
      </p:sp>
      <p:sp>
        <p:nvSpPr>
          <p:cNvPr id="3" name="Content Placeholder 2">
            <a:extLst>
              <a:ext uri="{FF2B5EF4-FFF2-40B4-BE49-F238E27FC236}">
                <a16:creationId xmlns:a16="http://schemas.microsoft.com/office/drawing/2014/main" id="{E4FEBBEB-9B4F-4F6C-9F74-59D571EF9EF5}"/>
              </a:ext>
            </a:extLst>
          </p:cNvPr>
          <p:cNvSpPr>
            <a:spLocks noGrp="1"/>
          </p:cNvSpPr>
          <p:nvPr>
            <p:ph idx="1"/>
          </p:nvPr>
        </p:nvSpPr>
        <p:spPr/>
        <p:txBody>
          <a:bodyPr>
            <a:normAutofit lnSpcReduction="10000"/>
          </a:bodyPr>
          <a:lstStyle/>
          <a:p>
            <a:r>
              <a:rPr lang="en-US" b="1" dirty="0">
                <a:solidFill>
                  <a:schemeClr val="tx1"/>
                </a:solidFill>
              </a:rPr>
              <a:t>Prevalence by Snack Family:</a:t>
            </a:r>
          </a:p>
          <a:p>
            <a:r>
              <a:rPr lang="en-US" b="1" dirty="0">
                <a:solidFill>
                  <a:schemeClr val="tx1"/>
                </a:solidFill>
              </a:rPr>
              <a:t>Tartrazine:</a:t>
            </a:r>
          </a:p>
          <a:p>
            <a:pPr>
              <a:buFont typeface="Arial" panose="020B0604020202020204" pitchFamily="34" charset="0"/>
              <a:buChar char="•"/>
            </a:pPr>
            <a:r>
              <a:rPr lang="en-US" dirty="0">
                <a:solidFill>
                  <a:schemeClr val="tx1"/>
                </a:solidFill>
              </a:rPr>
              <a:t>Cookies: ~2.8%</a:t>
            </a:r>
          </a:p>
          <a:p>
            <a:pPr>
              <a:buFont typeface="Arial" panose="020B0604020202020204" pitchFamily="34" charset="0"/>
              <a:buChar char="•"/>
            </a:pPr>
            <a:r>
              <a:rPr lang="en-US" dirty="0">
                <a:solidFill>
                  <a:schemeClr val="tx1"/>
                </a:solidFill>
              </a:rPr>
              <a:t>Candy: ~2.5%</a:t>
            </a:r>
          </a:p>
          <a:p>
            <a:pPr>
              <a:buFont typeface="Arial" panose="020B0604020202020204" pitchFamily="34" charset="0"/>
              <a:buChar char="•"/>
            </a:pPr>
            <a:r>
              <a:rPr lang="en-US" dirty="0">
                <a:solidFill>
                  <a:schemeClr val="tx1"/>
                </a:solidFill>
              </a:rPr>
              <a:t>Chips: ~0.7%</a:t>
            </a:r>
          </a:p>
          <a:p>
            <a:r>
              <a:rPr lang="en-US" b="1" dirty="0">
                <a:solidFill>
                  <a:schemeClr val="tx1"/>
                </a:solidFill>
              </a:rPr>
              <a:t>Sodium Benzoate:</a:t>
            </a:r>
          </a:p>
          <a:p>
            <a:pPr>
              <a:buFont typeface="Arial" panose="020B0604020202020204" pitchFamily="34" charset="0"/>
              <a:buChar char="•"/>
            </a:pPr>
            <a:r>
              <a:rPr lang="en-US" dirty="0">
                <a:solidFill>
                  <a:schemeClr val="tx1"/>
                </a:solidFill>
              </a:rPr>
              <a:t>Cookies highest</a:t>
            </a:r>
          </a:p>
          <a:p>
            <a:r>
              <a:rPr lang="en-US" b="1" dirty="0">
                <a:solidFill>
                  <a:schemeClr val="tx1"/>
                </a:solidFill>
              </a:rPr>
              <a:t>Acesulfame Potassium:</a:t>
            </a:r>
          </a:p>
          <a:p>
            <a:pPr>
              <a:buFont typeface="Arial" panose="020B0604020202020204" pitchFamily="34" charset="0"/>
              <a:buChar char="•"/>
            </a:pPr>
            <a:r>
              <a:rPr lang="en-US" dirty="0">
                <a:solidFill>
                  <a:schemeClr val="tx1"/>
                </a:solidFill>
              </a:rPr>
              <a:t>Rare across all</a:t>
            </a:r>
          </a:p>
          <a:p>
            <a:pPr marL="45720" indent="0">
              <a:buNone/>
            </a:pPr>
            <a:endParaRPr lang="en-US" dirty="0"/>
          </a:p>
        </p:txBody>
      </p:sp>
      <p:pic>
        <p:nvPicPr>
          <p:cNvPr id="5" name="Picture 4">
            <a:extLst>
              <a:ext uri="{FF2B5EF4-FFF2-40B4-BE49-F238E27FC236}">
                <a16:creationId xmlns:a16="http://schemas.microsoft.com/office/drawing/2014/main" id="{F4157C57-2914-432A-94D9-D3AA67CD9F2C}"/>
              </a:ext>
            </a:extLst>
          </p:cNvPr>
          <p:cNvPicPr>
            <a:picLocks noChangeAspect="1"/>
          </p:cNvPicPr>
          <p:nvPr/>
        </p:nvPicPr>
        <p:blipFill>
          <a:blip r:embed="rId3"/>
          <a:stretch>
            <a:fillRect/>
          </a:stretch>
        </p:blipFill>
        <p:spPr>
          <a:xfrm>
            <a:off x="5300639" y="2229081"/>
            <a:ext cx="6020109" cy="3473629"/>
          </a:xfrm>
          <a:prstGeom prst="rect">
            <a:avLst/>
          </a:prstGeom>
        </p:spPr>
      </p:pic>
    </p:spTree>
    <p:extLst>
      <p:ext uri="{BB962C8B-B14F-4D97-AF65-F5344CB8AC3E}">
        <p14:creationId xmlns:p14="http://schemas.microsoft.com/office/powerpoint/2010/main" val="2194212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E88D-74F1-42AD-A973-7337A38E4A03}"/>
              </a:ext>
            </a:extLst>
          </p:cNvPr>
          <p:cNvSpPr>
            <a:spLocks noGrp="1"/>
          </p:cNvSpPr>
          <p:nvPr>
            <p:ph type="title"/>
          </p:nvPr>
        </p:nvSpPr>
        <p:spPr/>
        <p:txBody>
          <a:bodyPr/>
          <a:lstStyle/>
          <a:p>
            <a:r>
              <a:rPr lang="en-US" dirty="0"/>
              <a:t>FDA Integration</a:t>
            </a:r>
          </a:p>
        </p:txBody>
      </p:sp>
      <p:sp>
        <p:nvSpPr>
          <p:cNvPr id="3" name="Content Placeholder 2">
            <a:extLst>
              <a:ext uri="{FF2B5EF4-FFF2-40B4-BE49-F238E27FC236}">
                <a16:creationId xmlns:a16="http://schemas.microsoft.com/office/drawing/2014/main" id="{FEE7820B-AD39-4AAE-8D64-E3BC2F91431C}"/>
              </a:ext>
            </a:extLst>
          </p:cNvPr>
          <p:cNvSpPr>
            <a:spLocks noGrp="1"/>
          </p:cNvSpPr>
          <p:nvPr>
            <p:ph idx="1"/>
          </p:nvPr>
        </p:nvSpPr>
        <p:spPr/>
        <p:txBody>
          <a:bodyPr/>
          <a:lstStyle/>
          <a:p>
            <a:r>
              <a:rPr lang="en-US" b="1" dirty="0">
                <a:solidFill>
                  <a:schemeClr val="tx1"/>
                </a:solidFill>
              </a:rPr>
              <a:t>Purpose of FDA dataset:</a:t>
            </a:r>
          </a:p>
          <a:p>
            <a:pPr>
              <a:buFont typeface="+mj-lt"/>
              <a:buAutoNum type="arabicPeriod"/>
            </a:pPr>
            <a:r>
              <a:rPr lang="en-US" dirty="0">
                <a:solidFill>
                  <a:schemeClr val="tx1"/>
                </a:solidFill>
              </a:rPr>
              <a:t>Regulatory validation</a:t>
            </a:r>
          </a:p>
          <a:p>
            <a:pPr>
              <a:buFont typeface="+mj-lt"/>
              <a:buAutoNum type="arabicPeriod"/>
            </a:pPr>
            <a:r>
              <a:rPr lang="en-US" dirty="0">
                <a:solidFill>
                  <a:schemeClr val="tx1"/>
                </a:solidFill>
              </a:rPr>
              <a:t>Name normalization baseline</a:t>
            </a:r>
          </a:p>
          <a:p>
            <a:pPr>
              <a:buFont typeface="+mj-lt"/>
              <a:buAutoNum type="arabicPeriod"/>
            </a:pPr>
            <a:r>
              <a:rPr lang="en-US" dirty="0">
                <a:solidFill>
                  <a:schemeClr val="tx1"/>
                </a:solidFill>
              </a:rPr>
              <a:t>Synonym reference</a:t>
            </a:r>
          </a:p>
          <a:p>
            <a:endParaRPr lang="en-US" dirty="0"/>
          </a:p>
        </p:txBody>
      </p:sp>
    </p:spTree>
    <p:extLst>
      <p:ext uri="{BB962C8B-B14F-4D97-AF65-F5344CB8AC3E}">
        <p14:creationId xmlns:p14="http://schemas.microsoft.com/office/powerpoint/2010/main" val="3623190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E001E-201E-4B19-88A7-2AD0B09F44E8}"/>
              </a:ext>
            </a:extLst>
          </p:cNvPr>
          <p:cNvSpPr>
            <a:spLocks noGrp="1"/>
          </p:cNvSpPr>
          <p:nvPr>
            <p:ph type="title"/>
          </p:nvPr>
        </p:nvSpPr>
        <p:spPr/>
        <p:txBody>
          <a:bodyPr/>
          <a:lstStyle/>
          <a:p>
            <a:r>
              <a:rPr lang="en-US" dirty="0"/>
              <a:t>CTD Evidence Integration</a:t>
            </a:r>
          </a:p>
        </p:txBody>
      </p:sp>
      <p:sp>
        <p:nvSpPr>
          <p:cNvPr id="3" name="Content Placeholder 2">
            <a:extLst>
              <a:ext uri="{FF2B5EF4-FFF2-40B4-BE49-F238E27FC236}">
                <a16:creationId xmlns:a16="http://schemas.microsoft.com/office/drawing/2014/main" id="{3D25DAD1-3D8B-4125-9C5C-975C4B62270F}"/>
              </a:ext>
            </a:extLst>
          </p:cNvPr>
          <p:cNvSpPr>
            <a:spLocks noGrp="1"/>
          </p:cNvSpPr>
          <p:nvPr>
            <p:ph idx="1"/>
          </p:nvPr>
        </p:nvSpPr>
        <p:spPr/>
        <p:txBody>
          <a:bodyPr>
            <a:normAutofit/>
          </a:bodyPr>
          <a:lstStyle/>
          <a:p>
            <a:r>
              <a:rPr lang="en-US" b="1" dirty="0">
                <a:solidFill>
                  <a:schemeClr val="tx1"/>
                </a:solidFill>
              </a:rPr>
              <a:t>CTD Weight Definition:</a:t>
            </a:r>
          </a:p>
          <a:p>
            <a:r>
              <a:rPr lang="en-US" dirty="0" err="1">
                <a:solidFill>
                  <a:schemeClr val="tx1"/>
                </a:solidFill>
              </a:rPr>
              <a:t>disease_count</a:t>
            </a:r>
            <a:r>
              <a:rPr lang="en-US" dirty="0">
                <a:solidFill>
                  <a:schemeClr val="tx1"/>
                </a:solidFill>
              </a:rPr>
              <a:t> = unique diseases linked to chemical</a:t>
            </a:r>
            <a:br>
              <a:rPr lang="en-US" dirty="0">
                <a:solidFill>
                  <a:schemeClr val="tx1"/>
                </a:solidFill>
              </a:rPr>
            </a:br>
            <a:r>
              <a:rPr lang="en-US" dirty="0">
                <a:solidFill>
                  <a:schemeClr val="tx1"/>
                </a:solidFill>
              </a:rPr>
              <a:t>weight = log(1 + </a:t>
            </a:r>
            <a:r>
              <a:rPr lang="en-US" dirty="0" err="1">
                <a:solidFill>
                  <a:schemeClr val="tx1"/>
                </a:solidFill>
              </a:rPr>
              <a:t>disease_count</a:t>
            </a:r>
            <a:r>
              <a:rPr lang="en-US" dirty="0">
                <a:solidFill>
                  <a:schemeClr val="tx1"/>
                </a:solidFill>
              </a:rPr>
              <a:t>)</a:t>
            </a:r>
          </a:p>
          <a:p>
            <a:r>
              <a:rPr lang="en-US" b="1" dirty="0">
                <a:solidFill>
                  <a:schemeClr val="tx1"/>
                </a:solidFill>
              </a:rPr>
              <a:t>This represents:</a:t>
            </a:r>
          </a:p>
          <a:p>
            <a:pPr>
              <a:buFont typeface="Arial" panose="020B0604020202020204" pitchFamily="34" charset="0"/>
              <a:buChar char="•"/>
            </a:pPr>
            <a:r>
              <a:rPr lang="en-US" dirty="0">
                <a:solidFill>
                  <a:schemeClr val="tx1"/>
                </a:solidFill>
              </a:rPr>
              <a:t>Breadth of documented toxicogenomic interaction</a:t>
            </a:r>
          </a:p>
          <a:p>
            <a:pPr>
              <a:buFont typeface="Arial" panose="020B0604020202020204" pitchFamily="34" charset="0"/>
              <a:buChar char="•"/>
            </a:pPr>
            <a:r>
              <a:rPr lang="en-US" dirty="0">
                <a:solidFill>
                  <a:schemeClr val="tx1"/>
                </a:solidFill>
              </a:rPr>
              <a:t>Research connectivity</a:t>
            </a:r>
          </a:p>
          <a:p>
            <a:pPr>
              <a:buFont typeface="Arial" panose="020B0604020202020204" pitchFamily="34" charset="0"/>
              <a:buChar char="•"/>
            </a:pPr>
            <a:r>
              <a:rPr lang="en-US" dirty="0">
                <a:solidFill>
                  <a:schemeClr val="tx1"/>
                </a:solidFill>
              </a:rPr>
              <a:t>Mechanistic diversity</a:t>
            </a:r>
          </a:p>
          <a:p>
            <a:pPr marL="45720" indent="0">
              <a:buNone/>
            </a:pPr>
            <a:endParaRPr lang="en-US" dirty="0"/>
          </a:p>
        </p:txBody>
      </p:sp>
    </p:spTree>
    <p:extLst>
      <p:ext uri="{BB962C8B-B14F-4D97-AF65-F5344CB8AC3E}">
        <p14:creationId xmlns:p14="http://schemas.microsoft.com/office/powerpoint/2010/main" val="2456244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70118-A54E-4421-8870-B9B9EFDCC8E0}"/>
              </a:ext>
            </a:extLst>
          </p:cNvPr>
          <p:cNvSpPr>
            <a:spLocks noGrp="1"/>
          </p:cNvSpPr>
          <p:nvPr>
            <p:ph type="title"/>
          </p:nvPr>
        </p:nvSpPr>
        <p:spPr/>
        <p:txBody>
          <a:bodyPr/>
          <a:lstStyle/>
          <a:p>
            <a:r>
              <a:rPr lang="en-US" dirty="0"/>
              <a:t>Risk Score Construction</a:t>
            </a:r>
          </a:p>
        </p:txBody>
      </p:sp>
      <p:sp>
        <p:nvSpPr>
          <p:cNvPr id="3" name="Content Placeholder 2">
            <a:extLst>
              <a:ext uri="{FF2B5EF4-FFF2-40B4-BE49-F238E27FC236}">
                <a16:creationId xmlns:a16="http://schemas.microsoft.com/office/drawing/2014/main" id="{EB8C8415-61E0-4C70-A0F2-DE63B25557BF}"/>
              </a:ext>
            </a:extLst>
          </p:cNvPr>
          <p:cNvSpPr>
            <a:spLocks noGrp="1"/>
          </p:cNvSpPr>
          <p:nvPr>
            <p:ph idx="1"/>
          </p:nvPr>
        </p:nvSpPr>
        <p:spPr/>
        <p:txBody>
          <a:bodyPr/>
          <a:lstStyle/>
          <a:p>
            <a:r>
              <a:rPr lang="en-US" b="1" dirty="0">
                <a:solidFill>
                  <a:schemeClr val="tx1"/>
                </a:solidFill>
              </a:rPr>
              <a:t>For each product:</a:t>
            </a:r>
          </a:p>
          <a:p>
            <a:r>
              <a:rPr lang="en-US" dirty="0" err="1">
                <a:solidFill>
                  <a:schemeClr val="tx1"/>
                </a:solidFill>
              </a:rPr>
              <a:t>Risk_raw</a:t>
            </a:r>
            <a:r>
              <a:rPr lang="en-US" dirty="0">
                <a:solidFill>
                  <a:schemeClr val="tx1"/>
                </a:solidFill>
              </a:rPr>
              <a:t> =(</a:t>
            </a:r>
            <a:r>
              <a:rPr lang="en-US" dirty="0" err="1">
                <a:solidFill>
                  <a:schemeClr val="tx1"/>
                </a:solidFill>
              </a:rPr>
              <a:t>ace_flag</a:t>
            </a:r>
            <a:r>
              <a:rPr lang="en-US" dirty="0">
                <a:solidFill>
                  <a:schemeClr val="tx1"/>
                </a:solidFill>
              </a:rPr>
              <a:t> × </a:t>
            </a:r>
            <a:r>
              <a:rPr lang="en-US" dirty="0" err="1">
                <a:solidFill>
                  <a:schemeClr val="tx1"/>
                </a:solidFill>
              </a:rPr>
              <a:t>w_ace</a:t>
            </a:r>
            <a:r>
              <a:rPr lang="en-US" dirty="0">
                <a:solidFill>
                  <a:schemeClr val="tx1"/>
                </a:solidFill>
              </a:rPr>
              <a:t>) +(</a:t>
            </a:r>
            <a:r>
              <a:rPr lang="en-US" dirty="0" err="1">
                <a:solidFill>
                  <a:schemeClr val="tx1"/>
                </a:solidFill>
              </a:rPr>
              <a:t>ben_flag</a:t>
            </a:r>
            <a:r>
              <a:rPr lang="en-US" dirty="0">
                <a:solidFill>
                  <a:schemeClr val="tx1"/>
                </a:solidFill>
              </a:rPr>
              <a:t> × </a:t>
            </a:r>
            <a:r>
              <a:rPr lang="en-US" dirty="0" err="1">
                <a:solidFill>
                  <a:schemeClr val="tx1"/>
                </a:solidFill>
              </a:rPr>
              <a:t>w_ben</a:t>
            </a:r>
            <a:r>
              <a:rPr lang="en-US" dirty="0">
                <a:solidFill>
                  <a:schemeClr val="tx1"/>
                </a:solidFill>
              </a:rPr>
              <a:t>) +(</a:t>
            </a:r>
            <a:r>
              <a:rPr lang="en-US" dirty="0" err="1">
                <a:solidFill>
                  <a:schemeClr val="tx1"/>
                </a:solidFill>
              </a:rPr>
              <a:t>tar_flag</a:t>
            </a:r>
            <a:r>
              <a:rPr lang="en-US" dirty="0">
                <a:solidFill>
                  <a:schemeClr val="tx1"/>
                </a:solidFill>
              </a:rPr>
              <a:t> × </a:t>
            </a:r>
            <a:r>
              <a:rPr lang="en-US" dirty="0" err="1">
                <a:solidFill>
                  <a:schemeClr val="tx1"/>
                </a:solidFill>
              </a:rPr>
              <a:t>w_tar</a:t>
            </a:r>
            <a:r>
              <a:rPr lang="en-US" dirty="0">
                <a:solidFill>
                  <a:schemeClr val="tx1"/>
                </a:solidFill>
              </a:rPr>
              <a:t>)</a:t>
            </a:r>
          </a:p>
          <a:p>
            <a:r>
              <a:rPr lang="en-US" dirty="0">
                <a:solidFill>
                  <a:schemeClr val="tx1"/>
                </a:solidFill>
              </a:rPr>
              <a:t>Normalized by ingredient count.</a:t>
            </a:r>
          </a:p>
          <a:p>
            <a:endParaRPr lang="en-US" dirty="0"/>
          </a:p>
        </p:txBody>
      </p:sp>
    </p:spTree>
    <p:extLst>
      <p:ext uri="{BB962C8B-B14F-4D97-AF65-F5344CB8AC3E}">
        <p14:creationId xmlns:p14="http://schemas.microsoft.com/office/powerpoint/2010/main" val="664671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B8EA-2C78-49AB-A666-22ED431BE9AF}"/>
              </a:ext>
            </a:extLst>
          </p:cNvPr>
          <p:cNvSpPr>
            <a:spLocks noGrp="1"/>
          </p:cNvSpPr>
          <p:nvPr>
            <p:ph type="title"/>
          </p:nvPr>
        </p:nvSpPr>
        <p:spPr/>
        <p:txBody>
          <a:bodyPr/>
          <a:lstStyle/>
          <a:p>
            <a:r>
              <a:rPr lang="en-US" dirty="0"/>
              <a:t>CTD Integration Limitation</a:t>
            </a:r>
          </a:p>
        </p:txBody>
      </p:sp>
      <p:sp>
        <p:nvSpPr>
          <p:cNvPr id="3" name="Content Placeholder 2">
            <a:extLst>
              <a:ext uri="{FF2B5EF4-FFF2-40B4-BE49-F238E27FC236}">
                <a16:creationId xmlns:a16="http://schemas.microsoft.com/office/drawing/2014/main" id="{DBB5A028-5A37-4C11-9C0C-4984C1BCF999}"/>
              </a:ext>
            </a:extLst>
          </p:cNvPr>
          <p:cNvSpPr>
            <a:spLocks noGrp="1"/>
          </p:cNvSpPr>
          <p:nvPr>
            <p:ph idx="1"/>
          </p:nvPr>
        </p:nvSpPr>
        <p:spPr/>
        <p:txBody>
          <a:bodyPr/>
          <a:lstStyle/>
          <a:p>
            <a:r>
              <a:rPr lang="en-US" b="1" dirty="0">
                <a:solidFill>
                  <a:schemeClr val="tx1"/>
                </a:solidFill>
              </a:rPr>
              <a:t>Milestone Limitation:</a:t>
            </a:r>
          </a:p>
          <a:p>
            <a:pPr>
              <a:buFont typeface="Arial" panose="020B0604020202020204" pitchFamily="34" charset="0"/>
              <a:buChar char="•"/>
            </a:pPr>
            <a:r>
              <a:rPr lang="en-US" dirty="0">
                <a:solidFill>
                  <a:schemeClr val="tx1"/>
                </a:solidFill>
              </a:rPr>
              <a:t>CTD header irregularities</a:t>
            </a:r>
          </a:p>
          <a:p>
            <a:pPr>
              <a:buFont typeface="Arial" panose="020B0604020202020204" pitchFamily="34" charset="0"/>
              <a:buChar char="•"/>
            </a:pPr>
            <a:r>
              <a:rPr lang="en-US" dirty="0">
                <a:solidFill>
                  <a:schemeClr val="tx1"/>
                </a:solidFill>
              </a:rPr>
              <a:t>Partial slice loading</a:t>
            </a:r>
          </a:p>
          <a:p>
            <a:pPr>
              <a:buFont typeface="Arial" panose="020B0604020202020204" pitchFamily="34" charset="0"/>
              <a:buChar char="•"/>
            </a:pPr>
            <a:r>
              <a:rPr lang="en-US" dirty="0">
                <a:solidFill>
                  <a:schemeClr val="tx1"/>
                </a:solidFill>
              </a:rPr>
              <a:t>Synonym resolution incomplete</a:t>
            </a:r>
          </a:p>
          <a:p>
            <a:r>
              <a:rPr lang="en-US" b="1" dirty="0">
                <a:solidFill>
                  <a:schemeClr val="tx1"/>
                </a:solidFill>
              </a:rPr>
              <a:t>Result:</a:t>
            </a:r>
            <a:br>
              <a:rPr lang="en-US" dirty="0">
                <a:solidFill>
                  <a:schemeClr val="tx1"/>
                </a:solidFill>
              </a:rPr>
            </a:br>
            <a:r>
              <a:rPr lang="en-US" dirty="0">
                <a:solidFill>
                  <a:schemeClr val="tx1"/>
                </a:solidFill>
              </a:rPr>
              <a:t>Risk weights returned zero in capped milestone slice.</a:t>
            </a:r>
          </a:p>
          <a:p>
            <a:endParaRPr lang="en-US" dirty="0"/>
          </a:p>
        </p:txBody>
      </p:sp>
    </p:spTree>
    <p:extLst>
      <p:ext uri="{BB962C8B-B14F-4D97-AF65-F5344CB8AC3E}">
        <p14:creationId xmlns:p14="http://schemas.microsoft.com/office/powerpoint/2010/main" val="3132904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7449-EFC5-49D0-8710-4048B32A043A}"/>
              </a:ext>
            </a:extLst>
          </p:cNvPr>
          <p:cNvSpPr>
            <a:spLocks noGrp="1"/>
          </p:cNvSpPr>
          <p:nvPr>
            <p:ph type="title"/>
          </p:nvPr>
        </p:nvSpPr>
        <p:spPr/>
        <p:txBody>
          <a:bodyPr/>
          <a:lstStyle/>
          <a:p>
            <a:r>
              <a:rPr lang="en-US" dirty="0"/>
              <a:t>Statistical Testing</a:t>
            </a:r>
          </a:p>
        </p:txBody>
      </p:sp>
      <p:sp>
        <p:nvSpPr>
          <p:cNvPr id="3" name="Content Placeholder 2">
            <a:extLst>
              <a:ext uri="{FF2B5EF4-FFF2-40B4-BE49-F238E27FC236}">
                <a16:creationId xmlns:a16="http://schemas.microsoft.com/office/drawing/2014/main" id="{0DD9D46E-4064-4F27-9BA8-BF86F2A4EF85}"/>
              </a:ext>
            </a:extLst>
          </p:cNvPr>
          <p:cNvSpPr>
            <a:spLocks noGrp="1"/>
          </p:cNvSpPr>
          <p:nvPr>
            <p:ph idx="1"/>
          </p:nvPr>
        </p:nvSpPr>
        <p:spPr/>
        <p:txBody>
          <a:bodyPr/>
          <a:lstStyle/>
          <a:p>
            <a:r>
              <a:rPr lang="en-US" b="1" dirty="0">
                <a:solidFill>
                  <a:schemeClr val="tx1"/>
                </a:solidFill>
              </a:rPr>
              <a:t>Kruskal–Wallis Test:</a:t>
            </a:r>
            <a:br>
              <a:rPr lang="en-US" dirty="0">
                <a:solidFill>
                  <a:schemeClr val="tx1"/>
                </a:solidFill>
              </a:rPr>
            </a:br>
            <a:r>
              <a:rPr lang="en-US" dirty="0">
                <a:solidFill>
                  <a:schemeClr val="tx1"/>
                </a:solidFill>
              </a:rPr>
              <a:t>Not meaningful due to zero-weight constraint in milestone slice.</a:t>
            </a:r>
          </a:p>
        </p:txBody>
      </p:sp>
    </p:spTree>
    <p:extLst>
      <p:ext uri="{BB962C8B-B14F-4D97-AF65-F5344CB8AC3E}">
        <p14:creationId xmlns:p14="http://schemas.microsoft.com/office/powerpoint/2010/main" val="2783527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43207-AD8C-4105-A4D2-2EB6D6C4D073}"/>
              </a:ext>
            </a:extLst>
          </p:cNvPr>
          <p:cNvSpPr>
            <a:spLocks noGrp="1"/>
          </p:cNvSpPr>
          <p:nvPr>
            <p:ph type="title"/>
          </p:nvPr>
        </p:nvSpPr>
        <p:spPr>
          <a:xfrm>
            <a:off x="1140351" y="587356"/>
            <a:ext cx="9875520" cy="1356360"/>
          </a:xfrm>
        </p:spPr>
        <p:txBody>
          <a:bodyPr/>
          <a:lstStyle/>
          <a:p>
            <a:r>
              <a:rPr lang="en-US" dirty="0"/>
              <a:t>Exploratory Data Analysis (EDA)</a:t>
            </a:r>
          </a:p>
        </p:txBody>
      </p:sp>
      <p:sp>
        <p:nvSpPr>
          <p:cNvPr id="3" name="Content Placeholder 2">
            <a:extLst>
              <a:ext uri="{FF2B5EF4-FFF2-40B4-BE49-F238E27FC236}">
                <a16:creationId xmlns:a16="http://schemas.microsoft.com/office/drawing/2014/main" id="{5608C12F-99FC-4FB9-8D2F-7A256616D114}"/>
              </a:ext>
            </a:extLst>
          </p:cNvPr>
          <p:cNvSpPr>
            <a:spLocks noGrp="1"/>
          </p:cNvSpPr>
          <p:nvPr>
            <p:ph idx="1"/>
          </p:nvPr>
        </p:nvSpPr>
        <p:spPr>
          <a:xfrm flipH="1">
            <a:off x="11015871" y="6050280"/>
            <a:ext cx="45719" cy="45719"/>
          </a:xfrm>
        </p:spPr>
        <p:txBody>
          <a:bodyPr>
            <a:normAutofit fontScale="25000" lnSpcReduction="20000"/>
          </a:bodyPr>
          <a:lstStyle/>
          <a:p>
            <a:r>
              <a:rPr lang="en-US" dirty="0"/>
              <a:t>.</a:t>
            </a:r>
          </a:p>
        </p:txBody>
      </p:sp>
      <p:sp>
        <p:nvSpPr>
          <p:cNvPr id="4" name="Rectangle 1">
            <a:extLst>
              <a:ext uri="{FF2B5EF4-FFF2-40B4-BE49-F238E27FC236}">
                <a16:creationId xmlns:a16="http://schemas.microsoft.com/office/drawing/2014/main" id="{094CD13D-ED9F-451D-961C-06BB0CEBD2B8}"/>
              </a:ext>
            </a:extLst>
          </p:cNvPr>
          <p:cNvSpPr>
            <a:spLocks noChangeArrowheads="1"/>
          </p:cNvSpPr>
          <p:nvPr/>
        </p:nvSpPr>
        <p:spPr bwMode="auto">
          <a:xfrm>
            <a:off x="1140352" y="1926904"/>
            <a:ext cx="1060480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Univariate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Ingredient formulation complexity (</a:t>
            </a:r>
            <a:r>
              <a:rPr kumimoji="0" lang="en-US" altLang="en-US" b="0" i="0" u="none" strike="noStrike" cap="none" normalizeH="0" baseline="0" dirty="0" err="1">
                <a:ln>
                  <a:noFill/>
                </a:ln>
                <a:solidFill>
                  <a:schemeClr val="tx1"/>
                </a:solidFill>
                <a:effectLst/>
              </a:rPr>
              <a:t>ingredient_count</a:t>
            </a:r>
            <a:r>
              <a:rPr kumimoji="0" lang="en-US" altLang="en-US" b="0" i="0" u="none" strike="noStrike" cap="none" normalizeH="0" baseline="0" dirty="0">
                <a:ln>
                  <a:noFill/>
                </a:ln>
                <a:solidFill>
                  <a:schemeClr val="tx1"/>
                </a:solidFill>
                <a:effectLst/>
              </a:rPr>
              <a:t>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Additive prevalence (Acesulfame K, Sodium Benzoate, Tartrazine)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Missingness assessment across key variables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Purpose:</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Establish baseline structure, validate data quality, and quantify formulation differences within snack ecosystems</a:t>
            </a:r>
            <a:r>
              <a:rPr kumimoji="0" lang="en-US" altLang="en-US" sz="1800" b="0" i="0" u="none" strike="noStrike" cap="none" normalizeH="0" baseline="0" dirty="0">
                <a:ln>
                  <a:noFill/>
                </a:ln>
                <a:solidFill>
                  <a:schemeClr val="tx1"/>
                </a:solidFill>
                <a:effectLst/>
              </a:rPr>
              <a:t>.</a:t>
            </a:r>
          </a:p>
        </p:txBody>
      </p:sp>
      <p:sp>
        <p:nvSpPr>
          <p:cNvPr id="6" name="Rectangle 3">
            <a:extLst>
              <a:ext uri="{FF2B5EF4-FFF2-40B4-BE49-F238E27FC236}">
                <a16:creationId xmlns:a16="http://schemas.microsoft.com/office/drawing/2014/main" id="{F1DF79FB-6BAF-4754-9527-4F54BEB622F7}"/>
              </a:ext>
            </a:extLst>
          </p:cNvPr>
          <p:cNvSpPr>
            <a:spLocks noChangeArrowheads="1"/>
          </p:cNvSpPr>
          <p:nvPr/>
        </p:nvSpPr>
        <p:spPr bwMode="auto">
          <a:xfrm>
            <a:off x="1143000" y="3731597"/>
            <a:ext cx="9908482"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Multivariate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Ingredient complexity differences across snack families (Kruskal–Wallis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Additive prevalence patterns by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Construction of evidence-weighted CTD risk signal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Category-level comparison of additive burden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Purpose:</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Move from descriptive profiling to category-aware differentiation and biological-context prioritization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574796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7449-EFC5-49D0-8710-4048B32A043A}"/>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0DD9D46E-4064-4F27-9BA8-BF86F2A4EF85}"/>
              </a:ext>
            </a:extLst>
          </p:cNvPr>
          <p:cNvSpPr>
            <a:spLocks noGrp="1"/>
          </p:cNvSpPr>
          <p:nvPr>
            <p:ph idx="1"/>
          </p:nvPr>
        </p:nvSpPr>
        <p:spPr/>
        <p:txBody>
          <a:bodyPr/>
          <a:lstStyle/>
          <a:p>
            <a:pPr lvl="2"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Regex-based entity recognition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Limited additive set (3 chemicals)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Partial CTD parsing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No dosage modeling</a:t>
            </a:r>
          </a:p>
          <a:p>
            <a:pPr marL="45720" indent="0">
              <a:buNone/>
            </a:pPr>
            <a:endParaRPr lang="en-US" dirty="0"/>
          </a:p>
        </p:txBody>
      </p:sp>
    </p:spTree>
    <p:extLst>
      <p:ext uri="{BB962C8B-B14F-4D97-AF65-F5344CB8AC3E}">
        <p14:creationId xmlns:p14="http://schemas.microsoft.com/office/powerpoint/2010/main" val="2128644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02850-B6AA-4FDC-8176-EB01FE1B9FBE}"/>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3DEB20F0-6694-4A17-913E-C743FE284691}"/>
              </a:ext>
            </a:extLst>
          </p:cNvPr>
          <p:cNvSpPr>
            <a:spLocks noGrp="1"/>
          </p:cNvSpPr>
          <p:nvPr>
            <p:ph idx="1"/>
          </p:nvPr>
        </p:nvSpPr>
        <p:spPr/>
        <p:txBody>
          <a:bodyPr/>
          <a:lstStyle/>
          <a:p>
            <a:pPr marL="45720" indent="0">
              <a:buNone/>
            </a:pPr>
            <a:r>
              <a:rPr lang="en-US" dirty="0">
                <a:solidFill>
                  <a:schemeClr val="tx1"/>
                </a:solidFill>
              </a:rPr>
              <a:t>Full CTD indexing</a:t>
            </a:r>
            <a:br>
              <a:rPr lang="en-US" dirty="0">
                <a:solidFill>
                  <a:schemeClr val="tx1"/>
                </a:solidFill>
              </a:rPr>
            </a:br>
            <a:r>
              <a:rPr lang="en-US" dirty="0">
                <a:solidFill>
                  <a:schemeClr val="tx1"/>
                </a:solidFill>
              </a:rPr>
              <a:t>Systematic E-number → chemical mapping</a:t>
            </a:r>
            <a:br>
              <a:rPr lang="en-US" dirty="0">
                <a:solidFill>
                  <a:schemeClr val="tx1"/>
                </a:solidFill>
              </a:rPr>
            </a:br>
            <a:r>
              <a:rPr lang="en-US" dirty="0">
                <a:solidFill>
                  <a:schemeClr val="tx1"/>
                </a:solidFill>
              </a:rPr>
              <a:t>Expanded additive set</a:t>
            </a:r>
            <a:br>
              <a:rPr lang="en-US" dirty="0">
                <a:solidFill>
                  <a:schemeClr val="tx1"/>
                </a:solidFill>
              </a:rPr>
            </a:br>
            <a:r>
              <a:rPr lang="en-US" dirty="0">
                <a:solidFill>
                  <a:schemeClr val="tx1"/>
                </a:solidFill>
              </a:rPr>
              <a:t>Ingredient embeddings + clustering</a:t>
            </a:r>
            <a:br>
              <a:rPr lang="en-US" dirty="0">
                <a:solidFill>
                  <a:schemeClr val="tx1"/>
                </a:solidFill>
              </a:rPr>
            </a:br>
            <a:r>
              <a:rPr lang="en-US" dirty="0">
                <a:solidFill>
                  <a:schemeClr val="tx1"/>
                </a:solidFill>
              </a:rPr>
              <a:t>Predictive modeling (logistic regression / tree-based models)</a:t>
            </a:r>
            <a:br>
              <a:rPr lang="en-US" dirty="0">
                <a:solidFill>
                  <a:schemeClr val="tx1"/>
                </a:solidFill>
              </a:rPr>
            </a:br>
            <a:r>
              <a:rPr lang="en-US" dirty="0">
                <a:solidFill>
                  <a:schemeClr val="tx1"/>
                </a:solidFill>
              </a:rPr>
              <a:t>Integrate nutrient covariates (salt, sugar, fat)</a:t>
            </a:r>
          </a:p>
        </p:txBody>
      </p:sp>
    </p:spTree>
    <p:extLst>
      <p:ext uri="{BB962C8B-B14F-4D97-AF65-F5344CB8AC3E}">
        <p14:creationId xmlns:p14="http://schemas.microsoft.com/office/powerpoint/2010/main" val="1197316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79D0-C365-41E3-B33B-6FCE6A0EE7F8}"/>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E3A0A3C6-1B50-4FD7-9783-0BAB2A580DB5}"/>
              </a:ext>
            </a:extLst>
          </p:cNvPr>
          <p:cNvSpPr>
            <a:spLocks noGrp="1"/>
          </p:cNvSpPr>
          <p:nvPr>
            <p:ph type="body" idx="1"/>
          </p:nvPr>
        </p:nvSpPr>
        <p:spPr/>
        <p:txBody>
          <a:bodyPr/>
          <a:lstStyle/>
          <a:p>
            <a:r>
              <a:rPr lang="en-US" dirty="0"/>
              <a:t>.</a:t>
            </a:r>
          </a:p>
        </p:txBody>
      </p:sp>
    </p:spTree>
    <p:extLst>
      <p:ext uri="{BB962C8B-B14F-4D97-AF65-F5344CB8AC3E}">
        <p14:creationId xmlns:p14="http://schemas.microsoft.com/office/powerpoint/2010/main" val="3425302394"/>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133</TotalTime>
  <Words>1135</Words>
  <Application>Microsoft Office PowerPoint</Application>
  <PresentationFormat>Widescreen</PresentationFormat>
  <Paragraphs>160</Paragraphs>
  <Slides>19</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Corbel</vt:lpstr>
      <vt:lpstr>LatoWeb</vt:lpstr>
      <vt:lpstr>Roboto</vt:lpstr>
      <vt:lpstr>Basis</vt:lpstr>
      <vt:lpstr>Exploratory Data Analysis</vt:lpstr>
      <vt:lpstr>Research Problem</vt:lpstr>
      <vt:lpstr>Objectives</vt:lpstr>
      <vt:lpstr>Narrowed Scope</vt:lpstr>
      <vt:lpstr>Data Overview</vt:lpstr>
      <vt:lpstr>Data Cleaning</vt:lpstr>
      <vt:lpstr>Feature Engineering</vt:lpstr>
      <vt:lpstr>Filtering &amp; Cleaning</vt:lpstr>
      <vt:lpstr>Ingredient Parsing</vt:lpstr>
      <vt:lpstr>Target Additive Prevalence</vt:lpstr>
      <vt:lpstr>FDA Integration</vt:lpstr>
      <vt:lpstr>CTD Evidence Integration</vt:lpstr>
      <vt:lpstr>Risk Score Construction</vt:lpstr>
      <vt:lpstr>CTD Integration Limitation</vt:lpstr>
      <vt:lpstr>Statistical Testing</vt:lpstr>
      <vt:lpstr>Exploratory Data Analysis (EDA)</vt:lpstr>
      <vt:lpstr>Limitations</vt:lpstr>
      <vt:lpstr>Future Work</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dc:title>
  <dc:creator>Sai Lavanya Puthila</dc:creator>
  <cp:lastModifiedBy>Sai Lavanya Puthila</cp:lastModifiedBy>
  <cp:revision>11</cp:revision>
  <dcterms:created xsi:type="dcterms:W3CDTF">2026-02-24T20:53:03Z</dcterms:created>
  <dcterms:modified xsi:type="dcterms:W3CDTF">2026-02-24T23:07:33Z</dcterms:modified>
</cp:coreProperties>
</file>