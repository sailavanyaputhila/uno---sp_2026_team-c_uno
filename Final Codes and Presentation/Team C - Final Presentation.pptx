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79" r:id="rId3"/>
    <p:sldId id="257" r:id="rId4"/>
    <p:sldId id="277" r:id="rId5"/>
    <p:sldId id="258" r:id="rId6"/>
    <p:sldId id="260" r:id="rId7"/>
    <p:sldId id="262" r:id="rId8"/>
    <p:sldId id="264" r:id="rId9"/>
    <p:sldId id="266" r:id="rId10"/>
    <p:sldId id="278" r:id="rId11"/>
    <p:sldId id="263" r:id="rId12"/>
    <p:sldId id="267" r:id="rId13"/>
    <p:sldId id="280" r:id="rId14"/>
    <p:sldId id="268" r:id="rId15"/>
    <p:sldId id="269" r:id="rId16"/>
    <p:sldId id="261" r:id="rId17"/>
    <p:sldId id="282" r:id="rId18"/>
    <p:sldId id="259" r:id="rId19"/>
    <p:sldId id="270" r:id="rId20"/>
    <p:sldId id="281" r:id="rId21"/>
    <p:sldId id="271" r:id="rId22"/>
    <p:sldId id="272" r:id="rId23"/>
    <p:sldId id="265" r:id="rId24"/>
    <p:sldId id="274" r:id="rId25"/>
    <p:sldId id="275" r:id="rId26"/>
    <p:sldId id="283" r:id="rId27"/>
    <p:sldId id="276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32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1410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3670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8093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3217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24413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da.gov/food/food-additives-petitions/trans-fat" TargetMode="External"/><Relationship Id="rId3" Type="http://schemas.openxmlformats.org/officeDocument/2006/relationships/hyperlink" Target="https://world.openfoodfacts.org/data" TargetMode="External"/><Relationship Id="rId7" Type="http://schemas.openxmlformats.org/officeDocument/2006/relationships/hyperlink" Target="https://www.iarc.who.int/featured-news/iarc-monographs-evaluate-the-carcinogenicity-of-aspartame/" TargetMode="External"/><Relationship Id="rId12" Type="http://schemas.openxmlformats.org/officeDocument/2006/relationships/hyperlink" Target="https://academic.oup.com/nar/article/51/D1/D1276/6833202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iarc.who.int/wp-content/uploads/2018/07/pr240_E.pdf" TargetMode="External"/><Relationship Id="rId11" Type="http://schemas.openxmlformats.org/officeDocument/2006/relationships/hyperlink" Target="https://scikit-learn.org/stable/modules/ensemble.html#forest" TargetMode="External"/><Relationship Id="rId5" Type="http://schemas.openxmlformats.org/officeDocument/2006/relationships/hyperlink" Target="https://www.thelancet.com/journals/lancet/article/PIIS0140-6736(07)61306-3/abstract" TargetMode="External"/><Relationship Id="rId10" Type="http://schemas.openxmlformats.org/officeDocument/2006/relationships/hyperlink" Target="https://www.nature.com/articles/nature14232" TargetMode="External"/><Relationship Id="rId4" Type="http://schemas.openxmlformats.org/officeDocument/2006/relationships/hyperlink" Target="https://ctdbase.org/" TargetMode="External"/><Relationship Id="rId9" Type="http://schemas.openxmlformats.org/officeDocument/2006/relationships/hyperlink" Target="https://efsa.onlinelibrary.wiley.com/doi/10.2903/j.efsa.2021.6585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731520"/>
            <a:ext cx="4114800" cy="4114800"/>
          </a:xfrm>
          <a:prstGeom prst="ellipse">
            <a:avLst/>
          </a:prstGeom>
          <a:solidFill>
            <a:srgbClr val="FF6B6B">
              <a:alpha val="10000"/>
            </a:srgbClr>
          </a:solidFill>
          <a:ln w="12700">
            <a:solidFill>
              <a:srgbClr val="FF6B6B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2926080"/>
            <a:ext cx="3200400" cy="3200400"/>
          </a:xfrm>
          <a:prstGeom prst="ellipse">
            <a:avLst/>
          </a:prstGeom>
          <a:solidFill>
            <a:srgbClr val="06D6A0">
              <a:alpha val="10000"/>
            </a:srgbClr>
          </a:solidFill>
          <a:ln w="12700">
            <a:solidFill>
              <a:srgbClr val="06D6A0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20040"/>
            <a:ext cx="2057400" cy="347472"/>
          </a:xfrm>
          <a:prstGeom prst="roundRect">
            <a:avLst>
              <a:gd name="adj" fmla="val 26316"/>
            </a:avLst>
          </a:prstGeom>
          <a:solidFill>
            <a:srgbClr val="FF6B6B">
              <a:alpha val="22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004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6B6B"/>
                </a:solidFill>
              </a:rPr>
              <a:t>NLP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697480" y="320040"/>
            <a:ext cx="2057400" cy="347472"/>
          </a:xfrm>
          <a:prstGeom prst="roundRect">
            <a:avLst>
              <a:gd name="adj" fmla="val 26316"/>
            </a:avLst>
          </a:prstGeom>
          <a:solidFill>
            <a:srgbClr val="FFD166">
              <a:alpha val="22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97480" y="32004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D166"/>
                </a:solidFill>
              </a:rPr>
              <a:t>MACHINE LEARNING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937760" y="320040"/>
            <a:ext cx="2057400" cy="347472"/>
          </a:xfrm>
          <a:prstGeom prst="roundRect">
            <a:avLst>
              <a:gd name="adj" fmla="val 26316"/>
            </a:avLst>
          </a:prstGeom>
          <a:solidFill>
            <a:srgbClr val="06D6A0">
              <a:alpha val="22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32004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D6A0"/>
                </a:solidFill>
              </a:rPr>
              <a:t>CTD DATABASE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235286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chemeClr val="bg1"/>
                </a:solidFill>
                <a:latin typeface="Arial Black" panose="020B0A04020102020204" pitchFamily="34" charset="0"/>
              </a:rPr>
              <a:t>Analyzing Health Risks in Grocery Food Products Using</a:t>
            </a:r>
            <a:br>
              <a:rPr lang="en-US" sz="2000" b="1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en-US" sz="2000" b="1" dirty="0">
                <a:solidFill>
                  <a:schemeClr val="bg1"/>
                </a:solidFill>
                <a:latin typeface="Arial Black" panose="020B0A04020102020204" pitchFamily="34" charset="0"/>
              </a:rPr>
              <a:t>Ingredient and Chemical Data</a:t>
            </a:r>
          </a:p>
        </p:txBody>
      </p:sp>
      <p:sp>
        <p:nvSpPr>
          <p:cNvPr id="11" name="Text 9"/>
          <p:cNvSpPr/>
          <p:nvPr/>
        </p:nvSpPr>
        <p:spPr>
          <a:xfrm>
            <a:off x="457200" y="2128266"/>
            <a:ext cx="822960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dirty="0">
                <a:solidFill>
                  <a:srgbClr val="FFFFFF"/>
                </a:solidFill>
                <a:ea typeface="Arial Black" pitchFamily="34" charset="-122"/>
                <a:cs typeface="Arial Black" pitchFamily="34" charset="-120"/>
              </a:rPr>
              <a:t>Snack Health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FFD166"/>
                </a:solidFill>
                <a:ea typeface="Arial Black" pitchFamily="34" charset="-122"/>
                <a:cs typeface="Arial Black" pitchFamily="34" charset="-120"/>
              </a:rPr>
              <a:t>Risk Analyzer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2761488"/>
            <a:ext cx="5029200" cy="457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889504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harmful chemicals in 100K snack products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NLP · Machine Learning · CTD Scientific Database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6758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Lavanya Puthila , Zach Edward ·  Masters Capstone  ·  Team C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4818888"/>
            <a:ext cx="914400" cy="32461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818888"/>
            <a:ext cx="914400" cy="324612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28800" y="4818888"/>
            <a:ext cx="914400" cy="32461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0" y="4818888"/>
            <a:ext cx="914400" cy="32461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0" y="4818888"/>
            <a:ext cx="914400" cy="324612"/>
          </a:xfrm>
          <a:prstGeom prst="rect">
            <a:avLst/>
          </a:prstGeom>
          <a:solidFill>
            <a:srgbClr val="118AB2"/>
          </a:solidFill>
          <a:ln w="12700">
            <a:solidFill>
              <a:srgbClr val="118AB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4818888"/>
            <a:ext cx="914400" cy="324612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0" y="4818888"/>
            <a:ext cx="914400" cy="32461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4818888"/>
            <a:ext cx="914400" cy="324612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0" y="4818888"/>
            <a:ext cx="914400" cy="32461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0" y="4818888"/>
            <a:ext cx="914400" cy="32461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0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99,958 Products  ·  207 Chemicals  ·  99% Accuracy  ·  10+ Languages  ·  CTD 179K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74320" y="54864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 err="1">
                <a:solidFill>
                  <a:schemeClr val="bg1"/>
                </a:solidFill>
                <a:latin typeface="Arial Black" panose="020B0A04020102020204" pitchFamily="34" charset="0"/>
              </a:rPr>
              <a:t>Buldak</a:t>
            </a:r>
            <a:endParaRPr lang="en-US" sz="32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73152" cy="109728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45299" y="1058915"/>
            <a:ext cx="1851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Arial Black" panose="020B0A04020102020204" pitchFamily="34" charset="0"/>
              </a:rPr>
              <a:t>In South Korea</a:t>
            </a:r>
          </a:p>
        </p:txBody>
      </p:sp>
      <p:sp>
        <p:nvSpPr>
          <p:cNvPr id="7" name="Text 5"/>
          <p:cNvSpPr/>
          <p:nvPr/>
        </p:nvSpPr>
        <p:spPr>
          <a:xfrm>
            <a:off x="2914516" y="80374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Arial Black" panose="020B0A04020102020204" pitchFamily="34" charset="0"/>
                <a:ea typeface="Calibri" pitchFamily="34" charset="-122"/>
                <a:cs typeface="Calibri" pitchFamily="34" charset="-120"/>
              </a:rPr>
              <a:t>In USA</a:t>
            </a:r>
            <a:endParaRPr lang="en-US" sz="1400" dirty="0">
              <a:latin typeface="Arial Black" panose="020B0A040201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246120" y="1901952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46120" y="2468880"/>
            <a:ext cx="2514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large-scale grocery product data with CTD chemical–health datasets — something no existing tool does automatically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pic>
        <p:nvPicPr>
          <p:cNvPr id="1026" name="Picture 2" descr="#4464: Buldak Carbonara Spicy Chicken Flavor Ramen - USA">
            <a:extLst>
              <a:ext uri="{FF2B5EF4-FFF2-40B4-BE49-F238E27FC236}">
                <a16:creationId xmlns:a16="http://schemas.microsoft.com/office/drawing/2014/main" id="{65C6991E-B2AF-4BBF-982A-93F8CB25D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027" y="1709253"/>
            <a:ext cx="4936789" cy="2270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amyang Spicy Chicken Noodle Carbonara Flavor Ramen, 4.58 oz, 5 Pack">
            <a:extLst>
              <a:ext uri="{FF2B5EF4-FFF2-40B4-BE49-F238E27FC236}">
                <a16:creationId xmlns:a16="http://schemas.microsoft.com/office/drawing/2014/main" id="{EA5CD86D-93CD-458E-9CEB-9D2F09EE30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3576" y="1425978"/>
            <a:ext cx="3201371" cy="3201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71CD48E-F4B7-4F7A-8CB9-CBE3C42AFA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3531" y="4233951"/>
            <a:ext cx="2289289" cy="5022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0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64008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Why This Project?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612648"/>
            <a:ext cx="8595360" cy="896112"/>
          </a:xfrm>
          <a:prstGeom prst="rect">
            <a:avLst/>
          </a:prstGeom>
          <a:solidFill>
            <a:srgbClr val="250845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612648"/>
            <a:ext cx="64008" cy="89611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94944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Packaged foods contain long complex ingredient lists with additives that are difficult to interpret at scale. Scientific databases exist that link chemicals to health conditions — but this information is never connected to real food products.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74320" y="1627632"/>
            <a:ext cx="2011680" cy="2944368"/>
          </a:xfrm>
          <a:prstGeom prst="rect">
            <a:avLst/>
          </a:prstGeom>
          <a:solidFill>
            <a:srgbClr val="250845"/>
          </a:solidFill>
          <a:ln w="12700">
            <a:solidFill>
              <a:srgbClr val="FF6B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627632"/>
            <a:ext cx="201168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71907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🛒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74320" y="2322576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70%+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65760" y="2980944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packaged snacks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 at least one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harmful additive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50592" y="1627632"/>
            <a:ext cx="2011680" cy="2944368"/>
          </a:xfrm>
          <a:prstGeom prst="rect">
            <a:avLst/>
          </a:prstGeom>
          <a:solidFill>
            <a:srgbClr val="250845"/>
          </a:solidFill>
          <a:ln w="1270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50592" y="1627632"/>
            <a:ext cx="201168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50592" y="171907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🏷️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450592" y="2322576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200+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2542032" y="2980944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ingredients on average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snack label — impossible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consumers to check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26864" y="1627632"/>
            <a:ext cx="2011680" cy="2944368"/>
          </a:xfrm>
          <a:prstGeom prst="rect">
            <a:avLst/>
          </a:prstGeom>
          <a:solidFill>
            <a:srgbClr val="250845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1627632"/>
            <a:ext cx="2011680" cy="5486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171907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🧪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626864" y="2322576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30+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4718304" y="2980944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chemicals linked to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cancer, ADHD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03136" y="1627632"/>
            <a:ext cx="2011680" cy="2944368"/>
          </a:xfrm>
          <a:prstGeom prst="rect">
            <a:avLst/>
          </a:prstGeom>
          <a:solidFill>
            <a:srgbClr val="250845"/>
          </a:solidFill>
          <a:ln w="12700">
            <a:solidFill>
              <a:srgbClr val="118A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03136" y="1627632"/>
            <a:ext cx="2011680" cy="54864"/>
          </a:xfrm>
          <a:prstGeom prst="rect">
            <a:avLst/>
          </a:prstGeom>
          <a:solidFill>
            <a:srgbClr val="118AB2"/>
          </a:solidFill>
          <a:ln w="12700">
            <a:solidFill>
              <a:srgbClr val="118A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03136" y="171907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❓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803136" y="2322576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18A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Zero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6894576" y="2980944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existed to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 ALL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harmful chemicals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250845"/>
          </a:solidFill>
          <a:ln w="12700">
            <a:solidFill>
              <a:srgbClr val="2508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82803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We built a system that reads ingredient text, detects harmful chemicals using NLP, and classifies every product by health risk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32892"/>
            <a:ext cx="9144000" cy="502920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Cleaning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594360"/>
            <a:ext cx="4114800" cy="914400"/>
          </a:xfrm>
          <a:prstGeom prst="rect">
            <a:avLst/>
          </a:prstGeom>
          <a:solidFill>
            <a:srgbClr val="0A3020"/>
          </a:solidFill>
          <a:ln w="12700">
            <a:solidFill>
              <a:srgbClr val="00B89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6400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Cleaning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12GB+ file  •  Millions of rows  •  All categories  •  Missing ingredients  •  Duplicates  •  10+ languages mixed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26280" y="868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1C40F"/>
                </a:solidFill>
              </a:rPr>
              <a:t>→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029200" y="594360"/>
            <a:ext cx="3840480" cy="914400"/>
          </a:xfrm>
          <a:prstGeom prst="rect">
            <a:avLst/>
          </a:prstGeom>
          <a:solidFill>
            <a:srgbClr val="0A3020"/>
          </a:solidFill>
          <a:ln w="1270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20640" y="640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120640" y="9144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99,958 rows  •  Snacks only  •  4 columns  •  No missing values  •  No duplicates  •  Cleaned text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664208"/>
            <a:ext cx="2697480" cy="1508760"/>
          </a:xfrm>
          <a:prstGeom prst="rect">
            <a:avLst/>
          </a:prstGeom>
          <a:solidFill>
            <a:srgbClr val="0A162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84048" y="1773936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773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173736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📦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65760" y="225856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Processing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2551176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12GB file 50,000 rows at a time — prevents memory crash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154680" y="1664208"/>
            <a:ext cx="2697480" cy="1508760"/>
          </a:xfrm>
          <a:prstGeom prst="rect">
            <a:avLst/>
          </a:prstGeom>
          <a:solidFill>
            <a:srgbClr val="0A1628"/>
          </a:solidFill>
          <a:ln w="12700">
            <a:solidFill>
              <a:srgbClr val="2980B9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64408" y="1773936"/>
            <a:ext cx="384048" cy="384048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64408" y="1773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703320" y="173736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🏷️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3246120" y="225856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Filter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46120" y="2551176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only snack keywords: chips, cookies, chocolate, candy, bar, cracker...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035040" y="1664208"/>
            <a:ext cx="2697480" cy="1508760"/>
          </a:xfrm>
          <a:prstGeom prst="rect">
            <a:avLst/>
          </a:prstGeom>
          <a:solidFill>
            <a:srgbClr val="0A1628"/>
          </a:solidFill>
          <a:ln w="127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44768" y="1773936"/>
            <a:ext cx="384048" cy="38404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44768" y="1773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83680" y="173736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🗑️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126480" y="225856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Missing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26480" y="2551176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rows with null ingredients_text — can't analyze what isn't there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3291840"/>
            <a:ext cx="2697480" cy="1508760"/>
          </a:xfrm>
          <a:prstGeom prst="rect">
            <a:avLst/>
          </a:prstGeom>
          <a:solidFill>
            <a:srgbClr val="0A1628"/>
          </a:solidFill>
          <a:ln w="1270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84048" y="3401568"/>
            <a:ext cx="384048" cy="38404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3401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22960" y="3364992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🔄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365760" y="38862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65760" y="4178808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identical product_name + ingredients combinations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154680" y="3291840"/>
            <a:ext cx="2697480" cy="1508760"/>
          </a:xfrm>
          <a:prstGeom prst="rect">
            <a:avLst/>
          </a:prstGeom>
          <a:solidFill>
            <a:srgbClr val="0A1628"/>
          </a:solidFill>
          <a:ln w="12700">
            <a:solidFill>
              <a:srgbClr val="8E44A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64408" y="3401568"/>
            <a:ext cx="384048" cy="384048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64408" y="3401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703320" y="3364992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✂️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3246120" y="38862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Pruning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246120" y="4178808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only: product_name, categories_en, ingredients_text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035040" y="3291840"/>
            <a:ext cx="2697480" cy="1508760"/>
          </a:xfrm>
          <a:prstGeom prst="rect">
            <a:avLst/>
          </a:prstGeom>
          <a:solidFill>
            <a:srgbClr val="0A1628"/>
          </a:solidFill>
          <a:ln w="12700">
            <a:solidFill>
              <a:srgbClr val="F1C40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144768" y="3401568"/>
            <a:ext cx="384048" cy="384048"/>
          </a:xfrm>
          <a:prstGeom prst="ellipse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44768" y="3401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583680" y="3364992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🎲</a:t>
            </a:r>
            <a:endParaRPr lang="en-US" sz="2600" dirty="0"/>
          </a:p>
        </p:txBody>
      </p:sp>
      <p:sp>
        <p:nvSpPr>
          <p:cNvPr id="45" name="Text 43"/>
          <p:cNvSpPr/>
          <p:nvPr/>
        </p:nvSpPr>
        <p:spPr>
          <a:xfrm>
            <a:off x="6126480" y="38862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Sample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126480" y="4178808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100,000 rows with random_state=42 for reproducibility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18AB2"/>
          </a:solidFill>
          <a:ln w="12700">
            <a:solidFill>
              <a:srgbClr val="118A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64008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The Dataset — Raw vs Cleaned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612648"/>
            <a:ext cx="8595360" cy="457200"/>
          </a:xfrm>
          <a:prstGeom prst="rect">
            <a:avLst/>
          </a:prstGeom>
          <a:solidFill>
            <a:srgbClr val="118AB2"/>
          </a:solidFill>
          <a:ln w="12700">
            <a:solidFill>
              <a:srgbClr val="118A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676656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Source: en.openfoodfacts.org.products.csv  ·  12GB+  ·  TSV  ·  Keywords: chips, cookies, chocolate, candy, biscuits, crackers, cake, bar, crisps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52144"/>
            <a:ext cx="2560320" cy="3547872"/>
          </a:xfrm>
          <a:prstGeom prst="rect">
            <a:avLst/>
          </a:prstGeom>
          <a:solidFill>
            <a:srgbClr val="250845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2529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After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Cleaning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4320" y="18288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99,958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74320" y="221284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248716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74320" y="287121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kept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314553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10+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74320" y="352958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" y="380390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8A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100K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74320" y="418795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017520" y="1152144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Original Columns → What We Kept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017520" y="1517904"/>
            <a:ext cx="1389888" cy="438912"/>
          </a:xfrm>
          <a:prstGeom prst="rect">
            <a:avLst/>
          </a:prstGeom>
          <a:solidFill>
            <a:srgbClr val="0A302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17520" y="155448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73552" y="160934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product_name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498848" y="1517904"/>
            <a:ext cx="1389888" cy="438912"/>
          </a:xfrm>
          <a:prstGeom prst="rect">
            <a:avLst/>
          </a:prstGeom>
          <a:solidFill>
            <a:srgbClr val="0A302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98848" y="155448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160934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categories_en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980176" y="1517904"/>
            <a:ext cx="1389888" cy="438912"/>
          </a:xfrm>
          <a:prstGeom prst="rect">
            <a:avLst/>
          </a:prstGeom>
          <a:solidFill>
            <a:srgbClr val="0A302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80176" y="155448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36208" y="160934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ingredients_text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461504" y="1517904"/>
            <a:ext cx="1389888" cy="438912"/>
          </a:xfrm>
          <a:prstGeom prst="rect">
            <a:avLst/>
          </a:prstGeom>
          <a:solidFill>
            <a:srgbClr val="0A302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61504" y="155448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17536" y="160934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ingredients_cleaned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017520" y="2048256"/>
            <a:ext cx="1389888" cy="438912"/>
          </a:xfrm>
          <a:prstGeom prst="rect">
            <a:avLst/>
          </a:prstGeom>
          <a:solidFill>
            <a:srgbClr val="2A0A0A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17520" y="2084832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❌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73552" y="213969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brands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498848" y="2048256"/>
            <a:ext cx="1389888" cy="438912"/>
          </a:xfrm>
          <a:prstGeom prst="rect">
            <a:avLst/>
          </a:prstGeom>
          <a:solidFill>
            <a:srgbClr val="2A0A0A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98848" y="2084832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❌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54880" y="213969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quantity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80176" y="2048256"/>
            <a:ext cx="1389888" cy="438912"/>
          </a:xfrm>
          <a:prstGeom prst="rect">
            <a:avLst/>
          </a:prstGeom>
          <a:solidFill>
            <a:srgbClr val="2A0A0A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80176" y="2084832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❌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36208" y="213969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serving_size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461504" y="2048256"/>
            <a:ext cx="1389888" cy="438912"/>
          </a:xfrm>
          <a:prstGeom prst="rect">
            <a:avLst/>
          </a:prstGeom>
          <a:solidFill>
            <a:srgbClr val="2A0A0A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61504" y="2084832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❌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717536" y="213969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energy_100g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017520" y="2578608"/>
            <a:ext cx="1389888" cy="438912"/>
          </a:xfrm>
          <a:prstGeom prst="rect">
            <a:avLst/>
          </a:prstGeom>
          <a:solidFill>
            <a:srgbClr val="2A0A0A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17520" y="2615184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❌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273552" y="26700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fat_100g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498848" y="2578608"/>
            <a:ext cx="1389888" cy="438912"/>
          </a:xfrm>
          <a:prstGeom prst="rect">
            <a:avLst/>
          </a:prstGeom>
          <a:solidFill>
            <a:srgbClr val="2A0A0A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98848" y="2615184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❌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754880" y="26700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sugars_100g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980176" y="2578608"/>
            <a:ext cx="1389888" cy="438912"/>
          </a:xfrm>
          <a:prstGeom prst="rect">
            <a:avLst/>
          </a:prstGeom>
          <a:solidFill>
            <a:srgbClr val="2A0A0A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80176" y="2615184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❌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236208" y="26700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proteins_100g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461504" y="2578608"/>
            <a:ext cx="1389888" cy="438912"/>
          </a:xfrm>
          <a:prstGeom prst="rect">
            <a:avLst/>
          </a:prstGeom>
          <a:solidFill>
            <a:srgbClr val="2A0A0A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461504" y="2615184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❌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717536" y="26700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salt_100g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017520" y="3108960"/>
            <a:ext cx="1389888" cy="438912"/>
          </a:xfrm>
          <a:prstGeom prst="rect">
            <a:avLst/>
          </a:prstGeom>
          <a:solidFill>
            <a:srgbClr val="2A1500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017520" y="3145536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⚠️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3273552" y="32004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additives_tags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498848" y="3108960"/>
            <a:ext cx="1389888" cy="438912"/>
          </a:xfrm>
          <a:prstGeom prst="rect">
            <a:avLst/>
          </a:prstGeom>
          <a:solidFill>
            <a:srgbClr val="2A0A0A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498848" y="3145536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❌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4754880" y="32004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countries_en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5980176" y="3108960"/>
            <a:ext cx="1389888" cy="438912"/>
          </a:xfrm>
          <a:prstGeom prst="rect">
            <a:avLst/>
          </a:prstGeom>
          <a:solidFill>
            <a:srgbClr val="2A0A0A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980176" y="3145536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❌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236208" y="32004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labels_en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7461504" y="3108960"/>
            <a:ext cx="1389888" cy="438912"/>
          </a:xfrm>
          <a:prstGeom prst="rect">
            <a:avLst/>
          </a:prstGeom>
          <a:solidFill>
            <a:srgbClr val="2A0A0A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461504" y="3145536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❌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7717536" y="32004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created_datetime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250845"/>
          </a:solidFill>
          <a:ln w="12700">
            <a:solidFill>
              <a:srgbClr val="25084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74320" y="482803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4 columns kept   ❌ 12 columns dropped   ⚠️ additives_tags dropped — incomplete, used raw ingredients_text instead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0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64008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 Pipeline 1 — Final Version (100K Products, No Translation)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585216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Final_Version__1_.ipynb  ·  snacks_cleaned.csv  ·  99,958 rows  ·  keyword-based detection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37160" y="877824"/>
            <a:ext cx="2103120" cy="1389888"/>
          </a:xfrm>
          <a:prstGeom prst="rect">
            <a:avLst/>
          </a:prstGeom>
          <a:solidFill>
            <a:srgbClr val="250845"/>
          </a:solidFill>
          <a:ln w="12700">
            <a:solidFill>
              <a:srgbClr val="118A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941832"/>
            <a:ext cx="329184" cy="329184"/>
          </a:xfrm>
          <a:prstGeom prst="ellipse">
            <a:avLst/>
          </a:prstGeom>
          <a:solidFill>
            <a:srgbClr val="118AB2"/>
          </a:solidFill>
          <a:ln w="12700">
            <a:solidFill>
              <a:srgbClr val="118A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9418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0120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914400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📂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01168" y="1380744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01168" y="1645920"/>
            <a:ext cx="1975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snacks_cleaned.csv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99,958 rows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49424" y="1536192"/>
            <a:ext cx="109728" cy="64008"/>
          </a:xfrm>
          <a:prstGeom prst="rect">
            <a:avLst/>
          </a:prstGeom>
          <a:solidFill>
            <a:srgbClr val="118AB2"/>
          </a:solidFill>
          <a:ln w="12700">
            <a:solidFill>
              <a:srgbClr val="118A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59152" y="877824"/>
            <a:ext cx="2103120" cy="1389888"/>
          </a:xfrm>
          <a:prstGeom prst="rect">
            <a:avLst/>
          </a:prstGeom>
          <a:solidFill>
            <a:srgbClr val="250845"/>
          </a:solidFill>
          <a:ln w="12700">
            <a:solidFill>
              <a:srgbClr val="FF6B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23160" y="941832"/>
            <a:ext cx="329184" cy="329184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23160" y="9418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0120"/>
                </a:solidFill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16352" y="914400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☣️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423160" y="1380744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207 Chemicals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423160" y="1645920"/>
            <a:ext cx="1975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match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ingredients_cleaned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471416" y="1536192"/>
            <a:ext cx="109728" cy="640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81144" y="877824"/>
            <a:ext cx="2103120" cy="1389888"/>
          </a:xfrm>
          <a:prstGeom prst="rect">
            <a:avLst/>
          </a:prstGeom>
          <a:solidFill>
            <a:srgbClr val="250845"/>
          </a:solidFill>
          <a:ln w="12700">
            <a:solidFill>
              <a:srgbClr val="FF9F1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45152" y="941832"/>
            <a:ext cx="329184" cy="329184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45152" y="9418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0120"/>
                </a:solidFill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38344" y="914400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645152" y="1380744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645152" y="1645920"/>
            <a:ext cx="1975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weights → cap 100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Safe/Low/Med/High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693408" y="1536192"/>
            <a:ext cx="109728" cy="64008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03136" y="877824"/>
            <a:ext cx="2103120" cy="1389888"/>
          </a:xfrm>
          <a:prstGeom prst="rect">
            <a:avLst/>
          </a:prstGeom>
          <a:solidFill>
            <a:srgbClr val="250845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67144" y="941832"/>
            <a:ext cx="329184" cy="329184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67144" y="9418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0120"/>
                </a:solidFill>
              </a:rPr>
              <a:t>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260336" y="914400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🏥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867144" y="1380744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Diseases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867144" y="1645920"/>
            <a:ext cx="1975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diseases.update()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product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37160" y="2368296"/>
            <a:ext cx="2103120" cy="1389888"/>
          </a:xfrm>
          <a:prstGeom prst="rect">
            <a:avLst/>
          </a:prstGeom>
          <a:solidFill>
            <a:srgbClr val="250845"/>
          </a:solidFill>
          <a:ln w="1270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01168" y="2432304"/>
            <a:ext cx="329184" cy="329184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1168" y="24323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0120"/>
                </a:solidFill>
              </a:rPr>
              <a:t>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94360" y="2404872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201168" y="2871216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Visualizations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01168" y="3136392"/>
            <a:ext cx="1975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health_risk_analysis.png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subplots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249424" y="3026664"/>
            <a:ext cx="109728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359152" y="2368296"/>
            <a:ext cx="2103120" cy="1389888"/>
          </a:xfrm>
          <a:prstGeom prst="rect">
            <a:avLst/>
          </a:prstGeom>
          <a:solidFill>
            <a:srgbClr val="250845"/>
          </a:solidFill>
          <a:ln w="12700">
            <a:solidFill>
              <a:srgbClr val="9B5D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423160" y="2432304"/>
            <a:ext cx="329184" cy="329184"/>
          </a:xfrm>
          <a:prstGeom prst="ellipse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423160" y="24323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0120"/>
                </a:solidFill>
              </a:rPr>
              <a:t>6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816352" y="2404872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🔢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2423160" y="2871216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B5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ML Features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2423160" y="3136392"/>
            <a:ext cx="1975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total_harmful_count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additive_density + 7 more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471416" y="3026664"/>
            <a:ext cx="109728" cy="64008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81144" y="2368296"/>
            <a:ext cx="2103120" cy="1389888"/>
          </a:xfrm>
          <a:prstGeom prst="rect">
            <a:avLst/>
          </a:prstGeom>
          <a:solidFill>
            <a:srgbClr val="250845"/>
          </a:solidFill>
          <a:ln w="12700">
            <a:solidFill>
              <a:srgbClr val="118A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645152" y="2432304"/>
            <a:ext cx="329184" cy="329184"/>
          </a:xfrm>
          <a:prstGeom prst="ellipse">
            <a:avLst/>
          </a:prstGeom>
          <a:solidFill>
            <a:srgbClr val="118AB2"/>
          </a:solidFill>
          <a:ln w="12700">
            <a:solidFill>
              <a:srgbClr val="118AB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45152" y="24323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0120"/>
                </a:solidFill>
              </a:rPr>
              <a:t>7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038344" y="2404872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✂️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4645152" y="2871216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Split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4645152" y="3136392"/>
            <a:ext cx="1975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stratify=y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79,835 | 19,959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693408" y="3026664"/>
            <a:ext cx="109728" cy="64008"/>
          </a:xfrm>
          <a:prstGeom prst="rect">
            <a:avLst/>
          </a:prstGeom>
          <a:solidFill>
            <a:srgbClr val="118AB2"/>
          </a:solidFill>
          <a:ln w="12700">
            <a:solidFill>
              <a:srgbClr val="118AB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803136" y="2368296"/>
            <a:ext cx="2103120" cy="1389888"/>
          </a:xfrm>
          <a:prstGeom prst="rect">
            <a:avLst/>
          </a:prstGeom>
          <a:solidFill>
            <a:srgbClr val="250845"/>
          </a:solidFill>
          <a:ln w="12700">
            <a:solidFill>
              <a:srgbClr val="FF6B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867144" y="2432304"/>
            <a:ext cx="329184" cy="329184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67144" y="24323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0120"/>
                </a:solidFill>
              </a:rPr>
              <a:t>8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260336" y="2404872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🏋️</a:t>
            </a:r>
            <a:endParaRPr lang="en-US" sz="2200" dirty="0"/>
          </a:p>
        </p:txBody>
      </p:sp>
      <p:sp>
        <p:nvSpPr>
          <p:cNvPr id="57" name="Text 55"/>
          <p:cNvSpPr/>
          <p:nvPr/>
        </p:nvSpPr>
        <p:spPr>
          <a:xfrm>
            <a:off x="6867144" y="2871216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4 Models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6867144" y="3136392"/>
            <a:ext cx="1975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98.2% · LDA 90.8%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98.0% · RF 98.1%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822960" y="3858768"/>
            <a:ext cx="2157984" cy="1220724"/>
          </a:xfrm>
          <a:prstGeom prst="rect">
            <a:avLst/>
          </a:prstGeom>
          <a:solidFill>
            <a:srgbClr val="250845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886968" y="3922776"/>
            <a:ext cx="329184" cy="329184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86968" y="3922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0120"/>
                </a:solidFill>
              </a:rPr>
              <a:t>9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1280160" y="3895344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🎛️</a:t>
            </a:r>
            <a:endParaRPr lang="en-US" sz="2200" dirty="0"/>
          </a:p>
        </p:txBody>
      </p:sp>
      <p:sp>
        <p:nvSpPr>
          <p:cNvPr id="63" name="Text 61"/>
          <p:cNvSpPr/>
          <p:nvPr/>
        </p:nvSpPr>
        <p:spPr>
          <a:xfrm>
            <a:off x="886968" y="4361688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886968" y="4626864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combos · best: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trees, depth=None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2990088" y="4517136"/>
            <a:ext cx="164592" cy="640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163824" y="3858768"/>
            <a:ext cx="2157984" cy="1220724"/>
          </a:xfrm>
          <a:prstGeom prst="rect">
            <a:avLst/>
          </a:prstGeom>
          <a:solidFill>
            <a:srgbClr val="250845"/>
          </a:solidFill>
          <a:ln w="1270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3227832" y="3922776"/>
            <a:ext cx="329184" cy="329184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227832" y="3922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0120"/>
                </a:solidFill>
              </a:rPr>
              <a:t>10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3621024" y="3895344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70" name="Text 68"/>
          <p:cNvSpPr/>
          <p:nvPr/>
        </p:nvSpPr>
        <p:spPr>
          <a:xfrm>
            <a:off x="3227832" y="4361688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 Accuracy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3227832" y="4626864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0.9950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mean: 0.983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5330952" y="4517136"/>
            <a:ext cx="164592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504688" y="3858768"/>
            <a:ext cx="2148840" cy="1220724"/>
          </a:xfrm>
          <a:prstGeom prst="rect">
            <a:avLst/>
          </a:prstGeom>
          <a:solidFill>
            <a:srgbClr val="250845"/>
          </a:solidFill>
          <a:ln w="12700">
            <a:solidFill>
              <a:srgbClr val="9B5D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5568696" y="3922776"/>
            <a:ext cx="329184" cy="329184"/>
          </a:xfrm>
          <a:prstGeom prst="ellipse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568696" y="3922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0120"/>
                </a:solidFill>
              </a:rPr>
              <a:t>11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5961888" y="3895344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77" name="Text 75"/>
          <p:cNvSpPr/>
          <p:nvPr/>
        </p:nvSpPr>
        <p:spPr>
          <a:xfrm>
            <a:off x="5568696" y="4361688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B5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CSV</a:t>
            </a:r>
            <a:endParaRPr lang="en-US" sz="1050" dirty="0"/>
          </a:p>
        </p:txBody>
      </p:sp>
      <p:sp>
        <p:nvSpPr>
          <p:cNvPr id="78" name="Text 76"/>
          <p:cNvSpPr/>
          <p:nvPr/>
        </p:nvSpPr>
        <p:spPr>
          <a:xfrm>
            <a:off x="5568696" y="4626864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snacks_final.csv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99,794 rows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0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64008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 Harmful Ingredients Database — 207 Entries, 7 Categories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37160" y="612648"/>
            <a:ext cx="2084832" cy="2084832"/>
          </a:xfrm>
          <a:prstGeom prst="rect">
            <a:avLst/>
          </a:prstGeom>
          <a:solidFill>
            <a:srgbClr val="250845"/>
          </a:solidFill>
          <a:ln w="1270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" y="612648"/>
            <a:ext cx="2084832" cy="4572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0312" y="658368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0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Artificial Colors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0312" y="1124712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chemicals  ·  weight: 10–20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10312" y="1380744"/>
            <a:ext cx="1938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E102, Tartrazine, Red 40, Yellow 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10312" y="169164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Hyperactivity, Allergies, Cancer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10312" y="1965960"/>
            <a:ext cx="193852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Southampton Study 2007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359152" y="612648"/>
            <a:ext cx="2084832" cy="2084832"/>
          </a:xfrm>
          <a:prstGeom prst="rect">
            <a:avLst/>
          </a:prstGeom>
          <a:solidFill>
            <a:srgbClr val="250845"/>
          </a:solidFill>
          <a:ln w="12700">
            <a:solidFill>
              <a:srgbClr val="FF6B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359152" y="612648"/>
            <a:ext cx="2084832" cy="4572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32304" y="658368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0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🧂  Preservatives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32304" y="1124712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chemicals  ·  weight: 8–20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432304" y="1380744"/>
            <a:ext cx="1938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Sodium Benzoate, TBHQ, BHA, BHT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432304" y="169164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Cancer, ADHD, Heart Disease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432304" y="1965960"/>
            <a:ext cx="193852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WHO Group 1 / FDA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81144" y="612648"/>
            <a:ext cx="2084832" cy="2084832"/>
          </a:xfrm>
          <a:prstGeom prst="rect">
            <a:avLst/>
          </a:prstGeom>
          <a:solidFill>
            <a:srgbClr val="250845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81144" y="612648"/>
            <a:ext cx="2084832" cy="45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54296" y="658368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0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🍬  Sweeteners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54296" y="1124712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chemicals  ·  weight: 6–15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654296" y="1380744"/>
            <a:ext cx="1938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Aspartame, Saccharin, Sucralose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54296" y="169164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Neurological Issues, Cancer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54296" y="1965960"/>
            <a:ext cx="193852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IARC 2023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803136" y="612648"/>
            <a:ext cx="2084832" cy="2084832"/>
          </a:xfrm>
          <a:prstGeom prst="rect">
            <a:avLst/>
          </a:prstGeom>
          <a:solidFill>
            <a:srgbClr val="250845"/>
          </a:solidFill>
          <a:ln w="12700">
            <a:solidFill>
              <a:srgbClr val="118A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03136" y="612648"/>
            <a:ext cx="2084832" cy="457200"/>
          </a:xfrm>
          <a:prstGeom prst="rect">
            <a:avLst/>
          </a:prstGeom>
          <a:solidFill>
            <a:srgbClr val="118AB2"/>
          </a:solidFill>
          <a:ln w="12700">
            <a:solidFill>
              <a:srgbClr val="118A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76288" y="658368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0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Flavor Enhancers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76288" y="1124712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chemicals  ·  weight: 8–12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876288" y="1380744"/>
            <a:ext cx="1938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MSG, E621, E627, E631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876288" y="169164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Headaches, Obesity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876288" y="1965960"/>
            <a:ext cx="193852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FDA GRAS Studies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051560" y="2825496"/>
            <a:ext cx="2212848" cy="2084832"/>
          </a:xfrm>
          <a:prstGeom prst="rect">
            <a:avLst/>
          </a:prstGeom>
          <a:solidFill>
            <a:srgbClr val="250845"/>
          </a:solidFill>
          <a:ln w="12700">
            <a:solidFill>
              <a:srgbClr val="9B5D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051560" y="2825496"/>
            <a:ext cx="2212848" cy="45720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24712" y="2871216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0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⚗️  Additives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124712" y="3337560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5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chemicals  ·  weight: 6–20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124712" y="3593592"/>
            <a:ext cx="20665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Titanium Dioxide, Carrageenan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4712" y="3904488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5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Cancer, DNA Damage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4712" y="4178808"/>
            <a:ext cx="20665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EU Ban 2020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429000" y="2825496"/>
            <a:ext cx="2212848" cy="2084832"/>
          </a:xfrm>
          <a:prstGeom prst="rect">
            <a:avLst/>
          </a:prstGeom>
          <a:solidFill>
            <a:srgbClr val="250845"/>
          </a:solidFill>
          <a:ln w="12700">
            <a:solidFill>
              <a:srgbClr val="FF9F1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429000" y="2825496"/>
            <a:ext cx="2212848" cy="45720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02152" y="2871216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0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🫀  Trans Fats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502152" y="3337560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chemicals  ·  weight: 20–25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502152" y="3593592"/>
            <a:ext cx="20665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Partially Hydrogenated Oils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502152" y="3904488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Heart Disease, Stroke, Diabetes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502152" y="4178808"/>
            <a:ext cx="20665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FDA Ban 2018 / WHO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806440" y="2825496"/>
            <a:ext cx="2212848" cy="2084832"/>
          </a:xfrm>
          <a:prstGeom prst="rect">
            <a:avLst/>
          </a:prstGeom>
          <a:solidFill>
            <a:srgbClr val="250845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806440" y="2825496"/>
            <a:ext cx="2212848" cy="45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879592" y="2871216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0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🧫  Emulsifiers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879592" y="3337560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chemicals  ·  weight: 8–10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879592" y="3593592"/>
            <a:ext cx="20665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Polysorbate 80, E433, E477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879592" y="3904488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Gut Microbiome Disruption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879592" y="4178808"/>
            <a:ext cx="20665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Chassaing et al. 2015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0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64008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  How Risk Weights Are Derived — Scientific Evidence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585216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1: Manually assigned based on WHO/FDA/IARC   ·   Pipeline 2: CTD InferenceScore → normalized automatically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96112"/>
          <a:ext cx="8412480" cy="365760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Weight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Key Evidence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Example Chemical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6B6B"/>
                          </a:solidFill>
                        </a:rPr>
                        <a:t>25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2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Trans Fats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2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FDA banned 2018  ·  WHO elimination campaign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2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Partially Hydrogenated Oil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2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6B6B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0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Preservatives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0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WHO Group 1 Carcinogen classification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0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Sodium Nitrite (E250)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08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9F1C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2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Preservatives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2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Southampton Study 2007  ·  FDA restricted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2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TBHQ, Sodium Benzoate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2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9F1C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0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Artificial Colors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0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Southampton Study — hyperactivity in children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0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E102 Tartrazine, Red 40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08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D166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2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Sweeteners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2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IARC 2023: possibly carcinogenic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2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Aspartame (E951)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2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D166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0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Flavor Enhancers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0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FDA GRAS but obesity/headache links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0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MSG, E621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08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6D6A0"/>
                          </a:solidFill>
                        </a:rPr>
                        <a:t>8–10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2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Emulsifiers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2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Chassaing et al. 2015 — gut disruption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2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Polysorbate 80, E433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2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6D6A0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0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Mild Additives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0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Newer, less conclusive evidence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0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E466, E968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08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4608575"/>
            <a:ext cx="8412480" cy="306493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4617720"/>
            <a:ext cx="8559800" cy="306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 2 (R&amp;D): InferenceScore ≥200→weight 25 | ≥100→20 | ≥50→15 | ≥20→10 | &lt;20→5   (fully automatic from CTD)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0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18AB2"/>
          </a:solidFill>
          <a:ln w="12700">
            <a:solidFill>
              <a:srgbClr val="118A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64008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  Target Variable, Input Features &amp; Why Random Forest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612648"/>
            <a:ext cx="8595360" cy="804672"/>
          </a:xfrm>
          <a:prstGeom prst="rect">
            <a:avLst/>
          </a:prstGeom>
          <a:solidFill>
            <a:srgbClr val="250845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6583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Response / Target Variable  (y)   —   y = risk_level   →   Safe | Low | Medium | High   (4-class classification)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84048" y="9784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risk_score? Score is continuous (regression). 4 classes give interpretable, actionable outputs.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1444752"/>
            <a:ext cx="4983480" cy="3310128"/>
          </a:xfrm>
          <a:prstGeom prst="rect">
            <a:avLst/>
          </a:prstGeom>
          <a:solidFill>
            <a:srgbClr val="250845"/>
          </a:solidFill>
          <a:ln w="12700">
            <a:solidFill>
              <a:srgbClr val="118A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5087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Input Features (X) — 10 features, Pipeline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188366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total_harmful_count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50592" y="1920240"/>
            <a:ext cx="2112264" cy="1828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6592" y="188366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47472" y="221284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9F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additive_density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50592" y="2249424"/>
            <a:ext cx="1156716" cy="18288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36592" y="221284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0.24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47472" y="25420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count_trans_fat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450592" y="2578608"/>
            <a:ext cx="528066" cy="1828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6592" y="254203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47472" y="287121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count_preservative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450592" y="2907792"/>
            <a:ext cx="336956" cy="1828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36592" y="287121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47472" y="32004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18A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ingredient_count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450592" y="3236976"/>
            <a:ext cx="336956" cy="182880"/>
          </a:xfrm>
          <a:prstGeom prst="rect">
            <a:avLst/>
          </a:prstGeom>
          <a:solidFill>
            <a:srgbClr val="118AB2"/>
          </a:solidFill>
          <a:ln w="12700">
            <a:solidFill>
              <a:srgbClr val="118A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6592" y="320040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47472" y="352958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B5D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count_artificial_color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450592" y="3566160"/>
            <a:ext cx="145847" cy="18288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36592" y="352958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9B5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47472" y="38587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0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count_flavor_enhancer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450592" y="3895344"/>
            <a:ext cx="95555" cy="182880"/>
          </a:xfrm>
          <a:prstGeom prst="rect">
            <a:avLst/>
          </a:prstGeom>
          <a:solidFill>
            <a:srgbClr val="B0A8C0"/>
          </a:solidFill>
          <a:ln w="12700">
            <a:solidFill>
              <a:srgbClr val="B0A8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36592" y="385876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47472" y="418795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0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count_sweetener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450592" y="4224528"/>
            <a:ext cx="50292" cy="182880"/>
          </a:xfrm>
          <a:prstGeom prst="rect">
            <a:avLst/>
          </a:prstGeom>
          <a:solidFill>
            <a:srgbClr val="B0A8C0"/>
          </a:solidFill>
          <a:ln w="12700">
            <a:solidFill>
              <a:srgbClr val="B0A8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36592" y="418795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47472" y="4553712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feature importance from Random Forest (actual values)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440680" y="1444752"/>
            <a:ext cx="3429000" cy="3310128"/>
          </a:xfrm>
          <a:prstGeom prst="rect">
            <a:avLst/>
          </a:prstGeom>
          <a:solidFill>
            <a:srgbClr val="250845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32120" y="15087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🌲  Why Random Forest?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532120" y="1883664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Non-linear patterns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532120" y="2121408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 fat + preservative together is worse than either alone — RF captures combinations, LR can't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532120" y="2432304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Class imbalance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532120" y="2670048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class_weight='balanced' forces attention on rare High risk products (only 5.4%)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532120" y="2980944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Feature importance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532120" y="3218688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additive_density is most predictive — scientifically validates our engineering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532120" y="3529584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🎛️  No feature scaling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532120" y="3767328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directly with raw counts. Logistic Regression / SVM need normalized inputs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532120" y="4078224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Best F1-weighted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532120" y="4315968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F1=0.9950 after GridSearchCV vs Logistic Regression: 0.9815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250845"/>
          </a:solidFill>
          <a:ln w="12700">
            <a:solidFill>
              <a:srgbClr val="25084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482803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best: n_estimators=200, max_depth=None, min_samples_split=5  →  CV Score: 0.9950  ·  Test Accuracy: 99%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Machine Learning Model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594360"/>
            <a:ext cx="4114800" cy="2743200"/>
          </a:xfrm>
          <a:prstGeom prst="rect">
            <a:avLst/>
          </a:prstGeom>
          <a:solidFill>
            <a:srgbClr val="0A1628"/>
          </a:solidFill>
          <a:ln w="12700">
            <a:solidFill>
              <a:srgbClr val="2980B9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658368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(Actual)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3931920" cy="365760"/>
          </a:xfrm>
          <a:prstGeom prst="rect">
            <a:avLst/>
          </a:prstGeom>
          <a:solidFill>
            <a:srgbClr val="0A1A2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881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0" y="1106424"/>
            <a:ext cx="1117854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06774" y="108813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98.2%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490472"/>
            <a:ext cx="3931920" cy="365760"/>
          </a:xfrm>
          <a:prstGeom prst="rect">
            <a:avLst/>
          </a:prstGeom>
          <a:solidFill>
            <a:srgbClr val="0A1A2A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270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0" y="1545336"/>
            <a:ext cx="108356" cy="23774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97276" y="152704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90.8%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1929384"/>
            <a:ext cx="3931920" cy="365760"/>
          </a:xfrm>
          <a:prstGeom prst="rect">
            <a:avLst/>
          </a:prstGeom>
          <a:solidFill>
            <a:srgbClr val="0A1A2A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9659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0" y="1984248"/>
            <a:ext cx="1104138" cy="237744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93058" y="196596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98.0%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368296"/>
            <a:ext cx="3931920" cy="365760"/>
          </a:xfrm>
          <a:prstGeom prst="rect">
            <a:avLst/>
          </a:prstGeom>
          <a:solidFill>
            <a:srgbClr val="002A10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4048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Random Forest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0" y="2423160"/>
            <a:ext cx="1110996" cy="23774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99916" y="240487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98.1%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2807208"/>
            <a:ext cx="3931920" cy="365760"/>
          </a:xfrm>
          <a:prstGeom prst="rect">
            <a:avLst/>
          </a:prstGeom>
          <a:solidFill>
            <a:srgbClr val="002A10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84378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RF + GridSearchCV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0" y="2862072"/>
            <a:ext cx="1303020" cy="237744"/>
          </a:xfrm>
          <a:prstGeom prst="rect">
            <a:avLst/>
          </a:prstGeom>
          <a:solidFill>
            <a:srgbClr val="E91E8C"/>
          </a:solidFill>
          <a:ln w="12700">
            <a:solidFill>
              <a:srgbClr val="E91E8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91940" y="284378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3429000"/>
            <a:ext cx="4114800" cy="1481328"/>
          </a:xfrm>
          <a:prstGeom prst="rect">
            <a:avLst/>
          </a:prstGeom>
          <a:solidFill>
            <a:srgbClr val="0A1628"/>
          </a:solidFill>
          <a:ln w="12700">
            <a:solidFill>
              <a:srgbClr val="E91E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65760" y="34930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1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Best Params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3822192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n_estimators: 200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max_depth: None (unlimited)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min_samples_split: 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 CV Score: 0.9950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17720" y="594360"/>
            <a:ext cx="4251960" cy="4315968"/>
          </a:xfrm>
          <a:prstGeom prst="rect">
            <a:avLst/>
          </a:prstGeom>
          <a:solidFill>
            <a:srgbClr val="0A1628"/>
          </a:solidFill>
          <a:ln w="1270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709160" y="658368"/>
            <a:ext cx="4069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Report (Actual)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709160" y="1024128"/>
            <a:ext cx="4069080" cy="32004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105156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40680" y="105156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080760" y="105156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720840" y="105156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360920" y="105156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09160" y="1417320"/>
            <a:ext cx="4069080" cy="548640"/>
          </a:xfrm>
          <a:prstGeom prst="rect">
            <a:avLst/>
          </a:prstGeom>
          <a:solidFill>
            <a:srgbClr val="0A2030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09160" y="1417320"/>
            <a:ext cx="73152" cy="5486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28032" y="150876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440680" y="150876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080760" y="150876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720840" y="150876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360920" y="150876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709160" y="2039112"/>
            <a:ext cx="4069080" cy="548640"/>
          </a:xfrm>
          <a:prstGeom prst="rect">
            <a:avLst/>
          </a:prstGeom>
          <a:solidFill>
            <a:srgbClr val="0A1A28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09160" y="2039112"/>
            <a:ext cx="73152" cy="548640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28032" y="2130552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440680" y="2130552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080760" y="2130552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720840" y="2130552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7360920" y="2130552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2,061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709160" y="2660904"/>
            <a:ext cx="4069080" cy="548640"/>
          </a:xfrm>
          <a:prstGeom prst="rect">
            <a:avLst/>
          </a:prstGeom>
          <a:solidFill>
            <a:srgbClr val="0A2030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709160" y="2660904"/>
            <a:ext cx="73152" cy="5486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28032" y="2752344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440680" y="2752344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6080760" y="2752344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6720840" y="2752344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7360920" y="2752344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460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709160" y="3282696"/>
            <a:ext cx="4069080" cy="548640"/>
          </a:xfrm>
          <a:prstGeom prst="rect">
            <a:avLst/>
          </a:prstGeom>
          <a:solidFill>
            <a:srgbClr val="0A1A28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709160" y="3282696"/>
            <a:ext cx="73152" cy="5486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28032" y="3374136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5440680" y="3374136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6080760" y="3374136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6720840" y="3374136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7360920" y="3374136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17,336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4709160" y="4023360"/>
            <a:ext cx="4069080" cy="74980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800600" y="4059936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Overall Accuracy: 99%</a:t>
            </a:r>
            <a:endParaRPr lang="en-US" sz="1800" dirty="0"/>
          </a:p>
        </p:txBody>
      </p:sp>
      <p:sp>
        <p:nvSpPr>
          <p:cNvPr id="67" name="Text 65"/>
          <p:cNvSpPr/>
          <p:nvPr/>
        </p:nvSpPr>
        <p:spPr>
          <a:xfrm>
            <a:off x="4800600" y="43891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Mean: 0.983  •  Test set: 19,959 rows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0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64008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Risk Score — Formula &amp; Actual Distribution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612648"/>
            <a:ext cx="8595360" cy="749808"/>
          </a:xfrm>
          <a:prstGeom prst="rect">
            <a:avLst/>
          </a:prstGeom>
          <a:solidFill>
            <a:srgbClr val="250845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675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9144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 Score  =  min( Σ weight[detected_chemicalᵢ] for all i,   100 )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463040"/>
            <a:ext cx="2011680" cy="3090672"/>
          </a:xfrm>
          <a:prstGeom prst="rect">
            <a:avLst/>
          </a:prstGeom>
          <a:solidFill>
            <a:srgbClr val="250845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463040"/>
            <a:ext cx="2011680" cy="5486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463040"/>
            <a:ext cx="2011680" cy="45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49047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0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SAFE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74320" y="197510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" y="233172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68.9%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74320" y="29443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products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" y="31821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(68,826)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345643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harmful ingredients found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4041648"/>
            <a:ext cx="1828800" cy="182880"/>
          </a:xfrm>
          <a:prstGeom prst="rect">
            <a:avLst/>
          </a:prstGeom>
          <a:solidFill>
            <a:srgbClr val="110226"/>
          </a:solidFill>
          <a:ln w="12700">
            <a:solidFill>
              <a:srgbClr val="11022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4041648"/>
            <a:ext cx="1260043" cy="1828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50592" y="1463040"/>
            <a:ext cx="2011680" cy="3090672"/>
          </a:xfrm>
          <a:prstGeom prst="rect">
            <a:avLst/>
          </a:prstGeom>
          <a:solidFill>
            <a:srgbClr val="250845"/>
          </a:solidFill>
          <a:ln w="1270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450592" y="1463040"/>
            <a:ext cx="201168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50592" y="1463040"/>
            <a:ext cx="2011680" cy="4572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50592" y="149047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0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LOW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2450592" y="197510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1–30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50592" y="233172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20.9%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2450592" y="29443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products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450592" y="31821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(20,908)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542032" y="345643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additives present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42032" y="4041648"/>
            <a:ext cx="1828800" cy="182880"/>
          </a:xfrm>
          <a:prstGeom prst="rect">
            <a:avLst/>
          </a:prstGeom>
          <a:solidFill>
            <a:srgbClr val="110226"/>
          </a:solidFill>
          <a:ln w="12700">
            <a:solidFill>
              <a:srgbClr val="11022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42032" y="4041648"/>
            <a:ext cx="382219" cy="1828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26864" y="1463040"/>
            <a:ext cx="2011680" cy="3090672"/>
          </a:xfrm>
          <a:prstGeom prst="rect">
            <a:avLst/>
          </a:prstGeom>
          <a:solidFill>
            <a:srgbClr val="250845"/>
          </a:solidFill>
          <a:ln w="12700">
            <a:solidFill>
              <a:srgbClr val="FF9F1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26864" y="1463040"/>
            <a:ext cx="2011680" cy="54864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26864" y="1463040"/>
            <a:ext cx="2011680" cy="45720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26864" y="149047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0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MEDIUM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4626864" y="197510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31–60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626864" y="233172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9F1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4.9%</a:t>
            </a:r>
            <a:endParaRPr lang="en-US" sz="3200" dirty="0"/>
          </a:p>
        </p:txBody>
      </p:sp>
      <p:sp>
        <p:nvSpPr>
          <p:cNvPr id="35" name="Text 33"/>
          <p:cNvSpPr/>
          <p:nvPr/>
        </p:nvSpPr>
        <p:spPr>
          <a:xfrm>
            <a:off x="4626864" y="29443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products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626864" y="31821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(4,869)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18304" y="345643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concerning additives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18304" y="4041648"/>
            <a:ext cx="1828800" cy="182880"/>
          </a:xfrm>
          <a:prstGeom prst="rect">
            <a:avLst/>
          </a:prstGeom>
          <a:solidFill>
            <a:srgbClr val="110226"/>
          </a:solidFill>
          <a:ln w="12700">
            <a:solidFill>
              <a:srgbClr val="11022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18304" y="4041648"/>
            <a:ext cx="89611" cy="18288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03136" y="1463040"/>
            <a:ext cx="2011680" cy="3090672"/>
          </a:xfrm>
          <a:prstGeom prst="rect">
            <a:avLst/>
          </a:prstGeom>
          <a:solidFill>
            <a:srgbClr val="250845"/>
          </a:solidFill>
          <a:ln w="12700">
            <a:solidFill>
              <a:srgbClr val="FF6B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803136" y="1463040"/>
            <a:ext cx="201168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03136" y="1463040"/>
            <a:ext cx="2011680" cy="4572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03136" y="149047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0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HIGH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6803136" y="197510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61–100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803136" y="233172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5.4%</a:t>
            </a:r>
            <a:endParaRPr lang="en-US" sz="3200" dirty="0"/>
          </a:p>
        </p:txBody>
      </p:sp>
      <p:sp>
        <p:nvSpPr>
          <p:cNvPr id="46" name="Text 44"/>
          <p:cNvSpPr/>
          <p:nvPr/>
        </p:nvSpPr>
        <p:spPr>
          <a:xfrm>
            <a:off x="6803136" y="29443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products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803136" y="31821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(5,355)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894576" y="345643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Severely harmful combination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894576" y="4041648"/>
            <a:ext cx="1828800" cy="182880"/>
          </a:xfrm>
          <a:prstGeom prst="rect">
            <a:avLst/>
          </a:prstGeom>
          <a:solidFill>
            <a:srgbClr val="110226"/>
          </a:solidFill>
          <a:ln w="12700">
            <a:solidFill>
              <a:srgbClr val="11022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894576" y="4041648"/>
            <a:ext cx="98755" cy="1828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0" y="4664456"/>
            <a:ext cx="9144000" cy="324612"/>
          </a:xfrm>
          <a:prstGeom prst="rect">
            <a:avLst/>
          </a:prstGeom>
          <a:solidFill>
            <a:srgbClr val="250845"/>
          </a:solidFill>
          <a:ln w="12700">
            <a:solidFill>
              <a:srgbClr val="25084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4320" y="4718304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tbhq(18) + e102(15) + sodium benzoate(18) + partially hydrogenated(25) = 76  →  HIGH RISK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0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64008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Final Version Results — Actual Charts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585216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health_risk_analysis.png  ·  generated by Final_Version__1_.ipynb  ·  99,958 products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77824"/>
            <a:ext cx="8595360" cy="39502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250845"/>
          </a:solidFill>
          <a:ln w="12700">
            <a:solidFill>
              <a:srgbClr val="25084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482803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chemical: nitrate (10,600 products)  ·  Top disease: digestive issues (21,171)  ·  31.1% products contain harmful ingredients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74320" y="54864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chemeClr val="bg1"/>
                </a:solidFill>
                <a:latin typeface="Arial Black" panose="020B0A04020102020204" pitchFamily="34" charset="0"/>
              </a:rPr>
              <a:t>Final Dataset</a:t>
            </a:r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73152" cy="109728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468880"/>
            <a:ext cx="2514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data-driven system that transforms raw ingredient text into meaningful health risk insights at the product level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46120" y="1901952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46120" y="2468880"/>
            <a:ext cx="2514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large-scale grocery product data with CTD chemical–health datasets — something no existing tool does automatically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935243" y="2401301"/>
            <a:ext cx="1783855" cy="16136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762A5D-C119-4E0A-A7FA-6728A6018E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60407"/>
            <a:ext cx="8569483" cy="3222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4623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0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64008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Top 10 Highest Risk Products (Score = 100)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603504"/>
            <a:ext cx="8595360" cy="384048"/>
          </a:xfrm>
          <a:prstGeom prst="rect">
            <a:avLst/>
          </a:prstGeom>
          <a:solidFill>
            <a:srgbClr val="250845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640080"/>
            <a:ext cx="310896" cy="310896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40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0120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94944" y="649224"/>
            <a:ext cx="548640" cy="2743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6492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16736" y="64922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Clásicos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977640" y="649224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e102, e129, e133, allura red, e320, bha, e321, bht, tbhq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026871"/>
            <a:ext cx="8595360" cy="384048"/>
          </a:xfrm>
          <a:prstGeom prst="rect">
            <a:avLst/>
          </a:prstGeom>
          <a:solidFill>
            <a:srgbClr val="110226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063447"/>
            <a:ext cx="310896" cy="310896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06344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0120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4944" y="1072591"/>
            <a:ext cx="548640" cy="2743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" y="1072591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16736" y="1072591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Prawn Crackers — Spicy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977640" y="1072591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e102, e129, bha, tbhq, aspartame, msg, e627, e631, silicon dioxide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1450238"/>
            <a:ext cx="8595360" cy="384048"/>
          </a:xfrm>
          <a:prstGeom prst="rect">
            <a:avLst/>
          </a:prstGeom>
          <a:solidFill>
            <a:srgbClr val="250845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1486814"/>
            <a:ext cx="310896" cy="310896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148681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0120"/>
                </a:solidFill>
              </a:rPr>
              <a:t>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4944" y="1495958"/>
            <a:ext cx="548640" cy="2743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" y="149595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316736" y="149595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Pie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977640" y="149595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sodium benzoate, bha, carrageenan, titanium dioxide, partially hydrogenated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1873606"/>
            <a:ext cx="8595360" cy="384048"/>
          </a:xfrm>
          <a:prstGeom prst="rect">
            <a:avLst/>
          </a:prstGeom>
          <a:solidFill>
            <a:srgbClr val="110226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1910182"/>
            <a:ext cx="310896" cy="310896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191018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0120"/>
                </a:solidFill>
              </a:rPr>
              <a:t>4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94944" y="1919326"/>
            <a:ext cx="548640" cy="2743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4944" y="191932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316736" y="191932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Grilled BBQ Corn Chips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977640" y="1919326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e104, e110, e122, e124, e133, e150, tbhq, aspartame, msg, e627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2296973"/>
            <a:ext cx="8595360" cy="384048"/>
          </a:xfrm>
          <a:prstGeom prst="rect">
            <a:avLst/>
          </a:prstGeom>
          <a:solidFill>
            <a:srgbClr val="250845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2333549"/>
            <a:ext cx="310896" cy="310896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233354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0120"/>
                </a:solidFill>
              </a:rPr>
              <a:t>5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94944" y="2342693"/>
            <a:ext cx="548640" cy="2743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4944" y="2342693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316736" y="2342693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Cookies N Cream Mousse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977640" y="2342693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sodium benzoate, bha, tbhq, titanium dioxide, partially hydrogenated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4320" y="2720340"/>
            <a:ext cx="8595360" cy="384048"/>
          </a:xfrm>
          <a:prstGeom prst="rect">
            <a:avLst/>
          </a:prstGeom>
          <a:solidFill>
            <a:srgbClr val="110226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" y="2756916"/>
            <a:ext cx="310896" cy="310896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27569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0120"/>
                </a:solidFill>
              </a:rPr>
              <a:t>6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94944" y="2766060"/>
            <a:ext cx="548640" cy="2743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4944" y="27660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316736" y="27660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Frosted Sugar Cookies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3977640" y="276606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bha, bht, tbhq, titanium dioxide, partially hydrogenated, hydrogenated veg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74320" y="3143707"/>
            <a:ext cx="8595360" cy="384048"/>
          </a:xfrm>
          <a:prstGeom prst="rect">
            <a:avLst/>
          </a:prstGeom>
          <a:solidFill>
            <a:srgbClr val="250845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20040" y="3180283"/>
            <a:ext cx="310896" cy="310896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040" y="318028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0120"/>
                </a:solidFill>
              </a:rPr>
              <a:t>7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94944" y="3189427"/>
            <a:ext cx="548640" cy="2743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94944" y="3189427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316736" y="3189427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Steak Sauce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3977640" y="3189427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e142, e202, sodium benzoate, tbhq, sucralose, acesulfame, msg, e627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74320" y="3567074"/>
            <a:ext cx="8595360" cy="384048"/>
          </a:xfrm>
          <a:prstGeom prst="rect">
            <a:avLst/>
          </a:prstGeom>
          <a:solidFill>
            <a:srgbClr val="110226"/>
          </a:solidFill>
          <a:ln w="12700">
            <a:solidFill>
              <a:srgbClr val="B0A8C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20040" y="3603650"/>
            <a:ext cx="310896" cy="310896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0040" y="3603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0120"/>
                </a:solidFill>
              </a:rPr>
              <a:t>8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94944" y="3612794"/>
            <a:ext cx="548640" cy="2743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94944" y="361279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1316736" y="361279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Doritos Sweet Chili 45g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3977640" y="3612794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e110, e122, tbhq, aspartame, msg, e627, e631, silicon dioxide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274320" y="3990442"/>
            <a:ext cx="8595360" cy="384048"/>
          </a:xfrm>
          <a:prstGeom prst="rect">
            <a:avLst/>
          </a:prstGeom>
          <a:solidFill>
            <a:srgbClr val="250845"/>
          </a:solidFill>
          <a:ln w="12700">
            <a:solidFill>
              <a:srgbClr val="B0A8C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20040" y="4027018"/>
            <a:ext cx="310896" cy="310896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0040" y="402701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0120"/>
                </a:solidFill>
              </a:rPr>
              <a:t>9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94944" y="4036162"/>
            <a:ext cx="548640" cy="2743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94944" y="403616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1316736" y="403616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Cakebabies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3977640" y="403616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sodium benzoate, bht, carrageenan, titanium dioxide, partially hydrogenated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274320" y="4413809"/>
            <a:ext cx="8595360" cy="384048"/>
          </a:xfrm>
          <a:prstGeom prst="rect">
            <a:avLst/>
          </a:prstGeom>
          <a:solidFill>
            <a:srgbClr val="110226"/>
          </a:solidFill>
          <a:ln w="12700">
            <a:solidFill>
              <a:srgbClr val="B0A8C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20040" y="4450385"/>
            <a:ext cx="310896" cy="310896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20040" y="445038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0120"/>
                </a:solidFill>
              </a:rPr>
              <a:t>10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94944" y="4459529"/>
            <a:ext cx="548640" cy="2743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94944" y="4459529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1316736" y="4459529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Crispy Marshmallow Squares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3977640" y="4459529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8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sodium benzoate, bht, tbhq, titanium dioxide, partially hydrogenated palm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0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18AB2"/>
          </a:solidFill>
          <a:ln w="12700">
            <a:solidFill>
              <a:srgbClr val="118A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64008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ML Model — Confusion Matrix &amp; Feature Importance (Actual)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585216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model_evaluation.png  ·  Final_Version__1_.ipynb  ·  test set: 19,959 rows  ·  Random Forest + GridSearchCV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77824"/>
            <a:ext cx="8595360" cy="30906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4041648"/>
            <a:ext cx="1645920" cy="749808"/>
          </a:xfrm>
          <a:prstGeom prst="rect">
            <a:avLst/>
          </a:prstGeom>
          <a:solidFill>
            <a:srgbClr val="250845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407822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433425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P:86%  R:94%  F1:0.90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011680" y="4041648"/>
            <a:ext cx="1645920" cy="749808"/>
          </a:xfrm>
          <a:prstGeom prst="rect">
            <a:avLst/>
          </a:prstGeom>
          <a:solidFill>
            <a:srgbClr val="250845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011680" y="407822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011680" y="433425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P:99%  R:96%  F1:0.98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749040" y="4041648"/>
            <a:ext cx="1645920" cy="749808"/>
          </a:xfrm>
          <a:prstGeom prst="rect">
            <a:avLst/>
          </a:prstGeom>
          <a:solidFill>
            <a:srgbClr val="250845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749040" y="407822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749040" y="433425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P:83%  R:93%  F1:0.88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486400" y="4041648"/>
            <a:ext cx="1645920" cy="749808"/>
          </a:xfrm>
          <a:prstGeom prst="rect">
            <a:avLst/>
          </a:prstGeom>
          <a:solidFill>
            <a:srgbClr val="250845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0" y="407822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486400" y="433425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P:100%  R:100%  F1:1.00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7223760" y="4041648"/>
            <a:ext cx="1645920" cy="749808"/>
          </a:xfrm>
          <a:prstGeom prst="rect">
            <a:avLst/>
          </a:prstGeom>
          <a:solidFill>
            <a:srgbClr val="250845"/>
          </a:solidFill>
          <a:ln w="12700">
            <a:solidFill>
              <a:srgbClr val="118AB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223760" y="407822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223760" y="433425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P:—  R:99%  F1:0.995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0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64008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   Pipeline 2 — R&amp;D (CTD Auto-Detection, 5K Sample)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585216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R_D.ipynb  ·  5,000 sampled rows  ·  Translation + CTD matching  ·  InferenceScore as weight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37160" y="877824"/>
            <a:ext cx="2103120" cy="1389888"/>
          </a:xfrm>
          <a:prstGeom prst="rect">
            <a:avLst/>
          </a:prstGeom>
          <a:solidFill>
            <a:srgbClr val="250845"/>
          </a:solidFill>
          <a:ln w="12700">
            <a:solidFill>
              <a:srgbClr val="118A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941832"/>
            <a:ext cx="329184" cy="329184"/>
          </a:xfrm>
          <a:prstGeom prst="ellipse">
            <a:avLst/>
          </a:prstGeom>
          <a:solidFill>
            <a:srgbClr val="118AB2"/>
          </a:solidFill>
          <a:ln w="12700">
            <a:solidFill>
              <a:srgbClr val="118A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9418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0120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914400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📂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01168" y="1380744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5K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01168" y="1645920"/>
            <a:ext cx="1975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random_state=42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49424" y="1536192"/>
            <a:ext cx="109728" cy="64008"/>
          </a:xfrm>
          <a:prstGeom prst="rect">
            <a:avLst/>
          </a:prstGeom>
          <a:solidFill>
            <a:srgbClr val="118AB2"/>
          </a:solidFill>
          <a:ln w="12700">
            <a:solidFill>
              <a:srgbClr val="118A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59152" y="877824"/>
            <a:ext cx="2103120" cy="1389888"/>
          </a:xfrm>
          <a:prstGeom prst="rect">
            <a:avLst/>
          </a:prstGeom>
          <a:solidFill>
            <a:srgbClr val="250845"/>
          </a:solidFill>
          <a:ln w="12700">
            <a:solidFill>
              <a:srgbClr val="FF9F1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23160" y="941832"/>
            <a:ext cx="329184" cy="329184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23160" y="9418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0120"/>
                </a:solidFill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16352" y="914400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423160" y="1380744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Encoding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423160" y="1645920"/>
            <a:ext cx="1975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ftfy: Ã©→é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mojibake fixed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471416" y="1536192"/>
            <a:ext cx="109728" cy="64008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81144" y="877824"/>
            <a:ext cx="2103120" cy="1389888"/>
          </a:xfrm>
          <a:prstGeom prst="rect">
            <a:avLst/>
          </a:prstGeom>
          <a:solidFill>
            <a:srgbClr val="250845"/>
          </a:solidFill>
          <a:ln w="1270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45152" y="941832"/>
            <a:ext cx="329184" cy="329184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45152" y="9418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0120"/>
                </a:solidFill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38344" y="914400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645152" y="1380744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Language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645152" y="1645920"/>
            <a:ext cx="1975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langdetect: 20+ langs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40.6% EN, 30.6% FR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693408" y="1536192"/>
            <a:ext cx="109728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03136" y="877824"/>
            <a:ext cx="2103120" cy="1389888"/>
          </a:xfrm>
          <a:prstGeom prst="rect">
            <a:avLst/>
          </a:prstGeom>
          <a:solidFill>
            <a:srgbClr val="250845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67144" y="941832"/>
            <a:ext cx="329184" cy="329184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67144" y="9418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0120"/>
                </a:solidFill>
              </a:rPr>
              <a:t>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260336" y="914400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867144" y="1380744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→ English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867144" y="1645920"/>
            <a:ext cx="1975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deep-translator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~3k non-EN rows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37160" y="2368296"/>
            <a:ext cx="2103120" cy="1389888"/>
          </a:xfrm>
          <a:prstGeom prst="rect">
            <a:avLst/>
          </a:prstGeom>
          <a:solidFill>
            <a:srgbClr val="250845"/>
          </a:solidFill>
          <a:ln w="12700">
            <a:solidFill>
              <a:srgbClr val="FF6B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01168" y="2432304"/>
            <a:ext cx="329184" cy="329184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1168" y="24323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0120"/>
                </a:solidFill>
              </a:rPr>
              <a:t>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94360" y="2404872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🧬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201168" y="2871216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CTD Lookup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01168" y="3136392"/>
            <a:ext cx="1975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179k chemicals indexed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MESH: prefix fix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249424" y="3026664"/>
            <a:ext cx="109728" cy="640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359152" y="2368296"/>
            <a:ext cx="2103120" cy="1389888"/>
          </a:xfrm>
          <a:prstGeom prst="rect">
            <a:avLst/>
          </a:prstGeom>
          <a:solidFill>
            <a:srgbClr val="250845"/>
          </a:solidFill>
          <a:ln w="12700">
            <a:solidFill>
              <a:srgbClr val="9B5D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423160" y="2432304"/>
            <a:ext cx="329184" cy="329184"/>
          </a:xfrm>
          <a:prstGeom prst="ellipse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423160" y="24323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0120"/>
                </a:solidFill>
              </a:rPr>
              <a:t>6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816352" y="2404872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2423160" y="2871216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B5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CTD Auto-Scan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2423160" y="3136392"/>
            <a:ext cx="1975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→ ChemID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InferenceScore=weight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471416" y="3026664"/>
            <a:ext cx="109728" cy="64008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81144" y="2368296"/>
            <a:ext cx="2103120" cy="1389888"/>
          </a:xfrm>
          <a:prstGeom prst="rect">
            <a:avLst/>
          </a:prstGeom>
          <a:solidFill>
            <a:srgbClr val="250845"/>
          </a:solidFill>
          <a:ln w="12700">
            <a:solidFill>
              <a:srgbClr val="FF9F1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645152" y="2432304"/>
            <a:ext cx="329184" cy="329184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45152" y="24323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0120"/>
                </a:solidFill>
              </a:rPr>
              <a:t>7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038344" y="2404872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4645152" y="2871216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4645152" y="3136392"/>
            <a:ext cx="1975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CTD score→weight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200+→25, 100+→20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693408" y="3026664"/>
            <a:ext cx="109728" cy="64008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803136" y="2368296"/>
            <a:ext cx="2103120" cy="1389888"/>
          </a:xfrm>
          <a:prstGeom prst="rect">
            <a:avLst/>
          </a:prstGeom>
          <a:solidFill>
            <a:srgbClr val="250845"/>
          </a:solidFill>
          <a:ln w="1270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867144" y="2432304"/>
            <a:ext cx="329184" cy="329184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67144" y="24323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0120"/>
                </a:solidFill>
              </a:rPr>
              <a:t>8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260336" y="2404872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57" name="Text 55"/>
          <p:cNvSpPr/>
          <p:nvPr/>
        </p:nvSpPr>
        <p:spPr>
          <a:xfrm>
            <a:off x="6867144" y="2871216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Visualizations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6867144" y="3136392"/>
            <a:ext cx="1975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4-chart + pie charts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model eval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822960" y="3858768"/>
            <a:ext cx="2212848" cy="1220724"/>
          </a:xfrm>
          <a:prstGeom prst="rect">
            <a:avLst/>
          </a:prstGeom>
          <a:solidFill>
            <a:srgbClr val="250845"/>
          </a:solidFill>
          <a:ln w="12700">
            <a:solidFill>
              <a:srgbClr val="118A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886968" y="3922776"/>
            <a:ext cx="329184" cy="329184"/>
          </a:xfrm>
          <a:prstGeom prst="ellipse">
            <a:avLst/>
          </a:prstGeom>
          <a:solidFill>
            <a:srgbClr val="118AB2"/>
          </a:solidFill>
          <a:ln w="12700">
            <a:solidFill>
              <a:srgbClr val="118AB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86968" y="3922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0120"/>
                </a:solidFill>
              </a:rPr>
              <a:t>9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1280160" y="3895344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63" name="Text 61"/>
          <p:cNvSpPr/>
          <p:nvPr/>
        </p:nvSpPr>
        <p:spPr>
          <a:xfrm>
            <a:off x="886968" y="4361688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ML Features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886968" y="4626864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ctd_match_count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max_inference_score+3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3044952" y="4517136"/>
            <a:ext cx="109728" cy="64008"/>
          </a:xfrm>
          <a:prstGeom prst="rect">
            <a:avLst/>
          </a:prstGeom>
          <a:solidFill>
            <a:srgbClr val="118AB2"/>
          </a:solidFill>
          <a:ln w="12700">
            <a:solidFill>
              <a:srgbClr val="118AB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163824" y="3858768"/>
            <a:ext cx="2212848" cy="1220724"/>
          </a:xfrm>
          <a:prstGeom prst="rect">
            <a:avLst/>
          </a:prstGeom>
          <a:solidFill>
            <a:srgbClr val="250845"/>
          </a:solidFill>
          <a:ln w="12700">
            <a:solidFill>
              <a:srgbClr val="FF6B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3227832" y="3922776"/>
            <a:ext cx="329184" cy="329184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227832" y="3922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0120"/>
                </a:solidFill>
              </a:rPr>
              <a:t>10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3621024" y="3895344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🎛️</a:t>
            </a:r>
            <a:endParaRPr lang="en-US" sz="2200" dirty="0"/>
          </a:p>
        </p:txBody>
      </p:sp>
      <p:sp>
        <p:nvSpPr>
          <p:cNvPr id="70" name="Text 68"/>
          <p:cNvSpPr/>
          <p:nvPr/>
        </p:nvSpPr>
        <p:spPr>
          <a:xfrm>
            <a:off x="3227832" y="4361688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3227832" y="4626864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depth=10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trees, split=2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5385816" y="4517136"/>
            <a:ext cx="109728" cy="640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504688" y="3858768"/>
            <a:ext cx="2148840" cy="1220724"/>
          </a:xfrm>
          <a:prstGeom prst="rect">
            <a:avLst/>
          </a:prstGeom>
          <a:solidFill>
            <a:srgbClr val="250845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5568696" y="3922776"/>
            <a:ext cx="329184" cy="329184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568696" y="3922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0120"/>
                </a:solidFill>
              </a:rPr>
              <a:t>11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5961888" y="3895344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77" name="Text 75"/>
          <p:cNvSpPr/>
          <p:nvPr/>
        </p:nvSpPr>
        <p:spPr>
          <a:xfrm>
            <a:off x="5568696" y="4361688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97.3% Accuracy</a:t>
            </a:r>
            <a:endParaRPr lang="en-US" sz="1050" dirty="0"/>
          </a:p>
        </p:txBody>
      </p:sp>
      <p:sp>
        <p:nvSpPr>
          <p:cNvPr id="78" name="Text 76"/>
          <p:cNvSpPr/>
          <p:nvPr/>
        </p:nvSpPr>
        <p:spPr>
          <a:xfrm>
            <a:off x="5568696" y="4626864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CV: 0.954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ctd_auto_results_5k.csv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74320" y="54864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chemeClr val="bg1"/>
                </a:solidFill>
                <a:latin typeface="Arial Black" panose="020B0A04020102020204" pitchFamily="34" charset="0"/>
              </a:rPr>
              <a:t>CTD - Dataset</a:t>
            </a:r>
          </a:p>
        </p:txBody>
      </p:sp>
      <p:sp>
        <p:nvSpPr>
          <p:cNvPr id="6" name="Text 4"/>
          <p:cNvSpPr/>
          <p:nvPr/>
        </p:nvSpPr>
        <p:spPr>
          <a:xfrm>
            <a:off x="1394968" y="1058915"/>
            <a:ext cx="1851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Arial Black" panose="020B0A04020102020204" pitchFamily="34" charset="0"/>
              </a:rPr>
              <a:t>CTD-Chemicals</a:t>
            </a:r>
          </a:p>
        </p:txBody>
      </p:sp>
      <p:sp>
        <p:nvSpPr>
          <p:cNvPr id="7" name="Text 5"/>
          <p:cNvSpPr/>
          <p:nvPr/>
        </p:nvSpPr>
        <p:spPr>
          <a:xfrm>
            <a:off x="2914516" y="80374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latin typeface="Arial Black" panose="020B0A04020102020204" pitchFamily="34" charset="0"/>
              </a:rPr>
              <a:t>CTD-Disease</a:t>
            </a:r>
          </a:p>
        </p:txBody>
      </p:sp>
      <p:sp>
        <p:nvSpPr>
          <p:cNvPr id="11" name="Text 9"/>
          <p:cNvSpPr/>
          <p:nvPr/>
        </p:nvSpPr>
        <p:spPr>
          <a:xfrm>
            <a:off x="365760" y="2468880"/>
            <a:ext cx="2514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data-driven system that transforms raw ingredient text into meaningful health risk insights at the product level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46120" y="1901952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46120" y="2468880"/>
            <a:ext cx="2514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large-scale grocery product data with CTD chemical–health datasets — something no existing tool does automatically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935243" y="2401301"/>
            <a:ext cx="1783855" cy="16136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C6BD10-8295-402C-88C5-3F99543596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40" y="1552205"/>
            <a:ext cx="4461860" cy="30000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3C35BD5-381E-4431-BDE9-A21AFD56E0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7621" y="1530374"/>
            <a:ext cx="4206240" cy="3021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4722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0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64008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R&amp;D Phase — What We Tried &amp; Discovered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612648"/>
            <a:ext cx="4206240" cy="4251960"/>
          </a:xfrm>
          <a:prstGeom prst="rect">
            <a:avLst/>
          </a:prstGeom>
          <a:solidFill>
            <a:srgbClr val="250845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67665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 Conducted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4048" y="1078992"/>
            <a:ext cx="4005072" cy="438912"/>
          </a:xfrm>
          <a:prstGeom prst="rect">
            <a:avLst/>
          </a:prstGeom>
          <a:solidFill>
            <a:srgbClr val="110226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❌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115568"/>
            <a:ext cx="3493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100k rows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1316736"/>
            <a:ext cx="3493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hrs via deep-translator — too slow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84048" y="1591056"/>
            <a:ext cx="4005072" cy="438912"/>
          </a:xfrm>
          <a:prstGeom prst="rect">
            <a:avLst/>
          </a:prstGeom>
          <a:solidFill>
            <a:srgbClr val="110226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609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❌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1627632"/>
            <a:ext cx="3493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Argostranslate offline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1828800"/>
            <a:ext cx="3493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API — is_installed error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4048" y="2103120"/>
            <a:ext cx="4005072" cy="438912"/>
          </a:xfrm>
          <a:prstGeom prst="rect">
            <a:avLst/>
          </a:prstGeom>
          <a:solidFill>
            <a:srgbClr val="110226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2139696"/>
            <a:ext cx="3493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embeddings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2960" y="2340864"/>
            <a:ext cx="3493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paraphrase-multilingual-MiniLM works natively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84048" y="2615184"/>
            <a:ext cx="4005072" cy="438912"/>
          </a:xfrm>
          <a:prstGeom prst="rect">
            <a:avLst/>
          </a:prstGeom>
          <a:solidFill>
            <a:srgbClr val="110226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" y="2651760"/>
            <a:ext cx="3493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5k sample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22960" y="2852928"/>
            <a:ext cx="3493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15–20 mins — feasible for R&amp;D pipeline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84048" y="3127248"/>
            <a:ext cx="4005072" cy="438912"/>
          </a:xfrm>
          <a:prstGeom prst="rect">
            <a:avLst/>
          </a:prstGeom>
          <a:solidFill>
            <a:srgbClr val="11022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145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🐛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2960" y="3163824"/>
            <a:ext cx="3493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CTD ID mismatch bug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22960" y="3364992"/>
            <a:ext cx="3493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MESH:C046983 ≠ C046983 — fixed!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84048" y="3639312"/>
            <a:ext cx="4005072" cy="438912"/>
          </a:xfrm>
          <a:prstGeom prst="rect">
            <a:avLst/>
          </a:prstGeom>
          <a:solidFill>
            <a:srgbClr val="110226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22960" y="3675888"/>
            <a:ext cx="3493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E-number matching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22960" y="3877056"/>
            <a:ext cx="3493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across all languages — instant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09160" y="612648"/>
            <a:ext cx="4160520" cy="4251960"/>
          </a:xfrm>
          <a:prstGeom prst="rect">
            <a:avLst/>
          </a:prstGeom>
          <a:solidFill>
            <a:srgbClr val="250845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18888" y="67665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Breakdown (5k sample)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18888" y="1115568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742432" y="1179576"/>
            <a:ext cx="1299362" cy="274320"/>
          </a:xfrm>
          <a:prstGeom prst="rect">
            <a:avLst/>
          </a:prstGeom>
          <a:solidFill>
            <a:srgbClr val="118AB2"/>
          </a:solidFill>
          <a:ln w="12700">
            <a:solidFill>
              <a:srgbClr val="118A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96658" y="1115568"/>
            <a:ext cx="594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40.6%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18888" y="1609344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French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742432" y="1673352"/>
            <a:ext cx="979322" cy="2743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76618" y="1609344"/>
            <a:ext cx="594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30.6%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18888" y="2103120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742432" y="2167128"/>
            <a:ext cx="220828" cy="2743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18124" y="2103120"/>
            <a:ext cx="594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6.9%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18888" y="2596896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Spanish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742432" y="2660904"/>
            <a:ext cx="176022" cy="2743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73318" y="2596896"/>
            <a:ext cx="594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5.5%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18888" y="30906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Italian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742432" y="3154680"/>
            <a:ext cx="118415" cy="27432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15711" y="3090672"/>
            <a:ext cx="594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3.7%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818888" y="3584448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Dutch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742432" y="3648456"/>
            <a:ext cx="67208" cy="27432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864504" y="3584448"/>
            <a:ext cx="594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5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2.1%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818888" y="4078224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5742432" y="4142232"/>
            <a:ext cx="339242" cy="274320"/>
          </a:xfrm>
          <a:prstGeom prst="rect">
            <a:avLst/>
          </a:prstGeom>
          <a:solidFill>
            <a:srgbClr val="B0A8C0"/>
          </a:solidFill>
          <a:ln w="12700">
            <a:solidFill>
              <a:srgbClr val="B0A8C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36538" y="4078224"/>
            <a:ext cx="594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10.6%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818888" y="462686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 of products are non-English!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0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64008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R&amp;D Pipeline — CTD Auto Detection Charts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585216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ctd_auto_analysis.png  ·  R_D.ipynb  ·  5,000 product sample  ·  CTD InferenceScore as weight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77824"/>
            <a:ext cx="8595360" cy="37673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250845"/>
          </a:solidFill>
          <a:ln w="12700">
            <a:solidFill>
              <a:srgbClr val="25084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482803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R&amp;D: 5k sample  ·  diseases auto-pulled from CTD  ·  weights from InferenceScore (not manual)  ·  97.3% RF accuracy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74320" y="54864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chemeClr val="bg1"/>
                </a:solidFill>
                <a:latin typeface="Arial Black" panose="020B0A04020102020204" pitchFamily="34" charset="0"/>
              </a:rPr>
              <a:t>CTD-</a:t>
            </a:r>
            <a:r>
              <a:rPr lang="en-US" sz="3200" dirty="0" err="1">
                <a:solidFill>
                  <a:schemeClr val="bg1"/>
                </a:solidFill>
                <a:latin typeface="Arial Black" panose="020B0A04020102020204" pitchFamily="34" charset="0"/>
              </a:rPr>
              <a:t>DataSet</a:t>
            </a:r>
            <a:endParaRPr lang="en-US" sz="32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73152" cy="109728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468880"/>
            <a:ext cx="2514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data-driven system that transforms raw ingredient text into meaningful health risk insights at the product level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46120" y="1901952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46120" y="2468880"/>
            <a:ext cx="2514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large-scale grocery product data with CTD chemical–health datasets — something no existing tool does automatically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25212FB-83F1-4E3D-A15F-5D4F0E291B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509" y="774939"/>
            <a:ext cx="8393731" cy="2708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2972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0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64008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R&amp;D Pipeline — CTD Summary Pie Charts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585216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ctd_pie_charts.png  ·  R_D.ipynb  ·  CTD InferenceScore risk categories + disease breakdown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77824"/>
            <a:ext cx="8595360" cy="3474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4425696"/>
            <a:ext cx="2743200" cy="292608"/>
          </a:xfrm>
          <a:prstGeom prst="rect">
            <a:avLst/>
          </a:prstGeom>
          <a:solidFill>
            <a:srgbClr val="250845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4443984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81.7% Low CTD score (&lt;50)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200400" y="4425696"/>
            <a:ext cx="2743200" cy="292608"/>
          </a:xfrm>
          <a:prstGeom prst="rect">
            <a:avLst/>
          </a:prstGeom>
          <a:solidFill>
            <a:srgbClr val="250845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91840" y="4443984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50.3% products = Low risk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126480" y="4425696"/>
            <a:ext cx="2743200" cy="292608"/>
          </a:xfrm>
          <a:prstGeom prst="rect">
            <a:avLst/>
          </a:prstGeom>
          <a:solidFill>
            <a:srgbClr val="250845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17920" y="4443984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21.8% diseases = Cancer/Neoplasms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250845"/>
          </a:solidFill>
          <a:ln w="12700">
            <a:solidFill>
              <a:srgbClr val="25084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4320" y="482803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difference: R&amp;D uses CTD InferenceScore as automatic weight vs Pipeline 1's manually assigned weights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0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1919" y="64008"/>
            <a:ext cx="890693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R&amp;D Model Evaluation — Confusion Matrix &amp; Feature Importance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585216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model_evaluation.png  ·  R_D.ipynb  ·  5k sample  ·  5 features including ctd_match_count + max_inference_score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77824"/>
            <a:ext cx="8595360" cy="30906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4041648"/>
            <a:ext cx="4114800" cy="749808"/>
          </a:xfrm>
          <a:prstGeom prst="rect">
            <a:avLst/>
          </a:prstGeom>
          <a:solidFill>
            <a:srgbClr val="250845"/>
          </a:solidFill>
          <a:ln w="12700">
            <a:solidFill>
              <a:srgbClr val="118AB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409651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1 Features (10):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84048" y="43434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total_harmful_count · additive_density · ingredient_count · count_[7 categories]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617720" y="4041648"/>
            <a:ext cx="4251960" cy="749808"/>
          </a:xfrm>
          <a:prstGeom prst="rect">
            <a:avLst/>
          </a:prstGeom>
          <a:solidFill>
            <a:srgbClr val="250845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27448" y="409651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2 Features (5):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727448" y="434340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total_harmful_count · ctd_match_count · max_inference_score · ingredient_count · additive_density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0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64008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These Chemicals Do to the Human Body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37160" y="612648"/>
            <a:ext cx="2103120" cy="2084832"/>
          </a:xfrm>
          <a:prstGeom prst="rect">
            <a:avLst/>
          </a:prstGeom>
          <a:solidFill>
            <a:srgbClr val="250845"/>
          </a:solidFill>
          <a:ln w="12700">
            <a:solidFill>
              <a:srgbClr val="FF6B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" y="612648"/>
            <a:ext cx="2103120" cy="4572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49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🫀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09928" y="66751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W:25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649224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0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 Fats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0D0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(Partially Hydrogenated)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01168" y="1124712"/>
            <a:ext cx="1975104" cy="1499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LDL (bad) cholesterol, lower HDL (good). Block arteries → heart attack, stroke. FDA banned 2018 as they cause ~20,000 heart attacks/year.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86584" y="612648"/>
            <a:ext cx="2103120" cy="2084832"/>
          </a:xfrm>
          <a:prstGeom prst="rect">
            <a:avLst/>
          </a:prstGeom>
          <a:solidFill>
            <a:srgbClr val="250845"/>
          </a:solidFill>
          <a:ln w="12700">
            <a:solidFill>
              <a:srgbClr val="FF6B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386584" y="612648"/>
            <a:ext cx="2103120" cy="4572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32304" y="649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☠️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959352" y="66751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W:20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843784" y="649224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0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Sodium Nitrite (E250)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450592" y="1124712"/>
            <a:ext cx="1975104" cy="1499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to nitrosamines in stomach. WHO classifies processed meats (containing nitrites) as Group 1 carcinogen. Strongly linked to colorectal cancer.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36008" y="612648"/>
            <a:ext cx="2103120" cy="2084832"/>
          </a:xfrm>
          <a:prstGeom prst="rect">
            <a:avLst/>
          </a:prstGeom>
          <a:solidFill>
            <a:srgbClr val="250845"/>
          </a:solidFill>
          <a:ln w="12700">
            <a:solidFill>
              <a:srgbClr val="FF9F1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36008" y="612648"/>
            <a:ext cx="2103120" cy="45720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81728" y="649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🧫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08776" y="66751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W:18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93208" y="649224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0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TBHQ (Preservative)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00016" y="1124712"/>
            <a:ext cx="1975104" cy="1499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nausea, vomiting, vision disturbances at high doses. Animal studies show cancer risk. FDA limits to just 0.02% of fat content.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885432" y="612648"/>
            <a:ext cx="2103120" cy="2084832"/>
          </a:xfrm>
          <a:prstGeom prst="rect">
            <a:avLst/>
          </a:prstGeom>
          <a:solidFill>
            <a:srgbClr val="250845"/>
          </a:solidFill>
          <a:ln w="1270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85432" y="612648"/>
            <a:ext cx="2103120" cy="4572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31152" y="649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458200" y="66751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W:15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42632" y="649224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0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Aspartame (E951)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949440" y="1124712"/>
            <a:ext cx="1975104" cy="1499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IARC 2023: possibly carcinogenic. Breaks down to phenylalanine, methanol, aspartic acid in the body. Linked to headaches and neurological issues.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37160" y="2825496"/>
            <a:ext cx="2103120" cy="2084832"/>
          </a:xfrm>
          <a:prstGeom prst="rect">
            <a:avLst/>
          </a:prstGeom>
          <a:solidFill>
            <a:srgbClr val="250845"/>
          </a:solidFill>
          <a:ln w="1270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37160" y="2825496"/>
            <a:ext cx="2103120" cy="4572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2880" y="2862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🎨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709928" y="288036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W:15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4360" y="2862072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0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Colors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0D0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(E102, Red 40, Yellow 6)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01168" y="3337560"/>
            <a:ext cx="1975104" cy="1499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Southampton Study 2007: caused hyperactivity in children. EU requires warning labels. Banned in several countries. Possible cancer risk.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386584" y="2825496"/>
            <a:ext cx="2103120" cy="2084832"/>
          </a:xfrm>
          <a:prstGeom prst="rect">
            <a:avLst/>
          </a:prstGeom>
          <a:solidFill>
            <a:srgbClr val="250845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386584" y="2825496"/>
            <a:ext cx="2103120" cy="45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32304" y="2862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🔬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3959352" y="288036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W:15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843784" y="2862072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0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Titanium Dioxide (E171)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450592" y="3337560"/>
            <a:ext cx="1975104" cy="1499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banned 2022 after evidence of DNA damage and cancer risk. Nanoparticles can cross gut barrier and accumulate in organs.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36008" y="2825496"/>
            <a:ext cx="2103120" cy="2084832"/>
          </a:xfrm>
          <a:prstGeom prst="rect">
            <a:avLst/>
          </a:prstGeom>
          <a:solidFill>
            <a:srgbClr val="250845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36008" y="2825496"/>
            <a:ext cx="2103120" cy="45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81728" y="2862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🦠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208776" y="288036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W:12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093208" y="2862072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0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Carrageenan (E407)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700016" y="3337560"/>
            <a:ext cx="1975104" cy="1499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inflammation of gut lining. Animal studies show tumor growth. Linked to colitis and IBS. Controversial — banned in some EU products.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885432" y="2825496"/>
            <a:ext cx="2103120" cy="2084832"/>
          </a:xfrm>
          <a:prstGeom prst="rect">
            <a:avLst/>
          </a:prstGeom>
          <a:solidFill>
            <a:srgbClr val="250845"/>
          </a:solidFill>
          <a:ln w="12700">
            <a:solidFill>
              <a:srgbClr val="118A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885432" y="2825496"/>
            <a:ext cx="2103120" cy="457200"/>
          </a:xfrm>
          <a:prstGeom prst="rect">
            <a:avLst/>
          </a:prstGeom>
          <a:solidFill>
            <a:srgbClr val="118AB2"/>
          </a:solidFill>
          <a:ln w="12700">
            <a:solidFill>
              <a:srgbClr val="118AB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31152" y="2862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8458200" y="288036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0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W:10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342632" y="2862072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0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Polysorbate 80 (E433)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949440" y="3337560"/>
            <a:ext cx="1975104" cy="1499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Chassaing et al. 2015: disrupts gut microbiome, promotes inflammation. Links to obesity, metabolic syndrome, and IBD in animal models.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0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64008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Mid-Semester → Final: Key Improvements</a:t>
            </a:r>
            <a:endParaRPr lang="en-US" sz="2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40080"/>
          <a:ext cx="8321040" cy="429768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7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Mid-Semester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Final Version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Impact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Additives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2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8888"/>
                          </a:solidFill>
                        </a:rPr>
                        <a:t>6 chemicals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2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88FF88"/>
                          </a:solidFill>
                        </a:rPr>
                        <a:t>207 chemicals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2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D166"/>
                          </a:solidFill>
                        </a:rPr>
                        <a:t>35× more coverage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2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Data Leakage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0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8888"/>
                          </a:solidFill>
                        </a:rPr>
                        <a:t>❌ 100% accuracy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0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88FF88"/>
                          </a:solidFill>
                        </a:rPr>
                        <a:t>✅ Fixed — independent scoring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0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D166"/>
                          </a:solidFill>
                        </a:rPr>
                        <a:t>Trustworthy model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08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Risk Label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2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8888"/>
                          </a:solidFill>
                        </a:rPr>
                        <a:t>Binary (0/1)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2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88FF88"/>
                          </a:solidFill>
                        </a:rPr>
                        <a:t>4-class Safe/Low/Med/High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2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D166"/>
                          </a:solidFill>
                        </a:rPr>
                        <a:t>Meaningful categories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2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Response Var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0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8888"/>
                          </a:solidFill>
                        </a:rPr>
                        <a:t>Binary risk_label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0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88FF88"/>
                          </a:solidFill>
                        </a:rPr>
                        <a:t>4-class risk_level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0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D166"/>
                          </a:solidFill>
                        </a:rPr>
                        <a:t>Richer classification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08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Disease Mapping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2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8888"/>
                          </a:solidFill>
                        </a:rPr>
                        <a:t>None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2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88FF88"/>
                          </a:solidFill>
                        </a:rPr>
                        <a:t>Full health risk links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2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D166"/>
                          </a:solidFill>
                        </a:rPr>
                        <a:t>Clinically relevant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2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Languages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0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8888"/>
                          </a:solidFill>
                        </a:rPr>
                        <a:t>English only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0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88FF88"/>
                          </a:solidFill>
                        </a:rPr>
                        <a:t>10+ via NLP translation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0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D166"/>
                          </a:solidFill>
                        </a:rPr>
                        <a:t>Global coverage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08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ML Accuracy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2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8888"/>
                          </a:solidFill>
                        </a:rPr>
                        <a:t>100% (overfit)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2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88FF88"/>
                          </a:solidFill>
                        </a:rPr>
                        <a:t>99% (valid &amp; real)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2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D166"/>
                          </a:solidFill>
                        </a:rPr>
                        <a:t>Generalizable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2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CV Score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0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8888"/>
                          </a:solidFill>
                        </a:rPr>
                        <a:t>1.0 (suspicious)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0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88FF88"/>
                          </a:solidFill>
                        </a:rPr>
                        <a:t>0.983 (realistic)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08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D166"/>
                          </a:solidFill>
                        </a:rPr>
                        <a:t>No data leakage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0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08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250845"/>
          </a:solidFill>
          <a:ln w="12700">
            <a:solidFill>
              <a:srgbClr val="25084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482803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Identifying + fixing data leakage (100% → 99%) shows critical thinking and scientific rigour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0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32892"/>
            <a:ext cx="9144000" cy="53035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64008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Limitations &amp; Future Work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612648"/>
            <a:ext cx="4114800" cy="4251960"/>
          </a:xfrm>
          <a:prstGeom prst="rect">
            <a:avLst/>
          </a:prstGeom>
          <a:solidFill>
            <a:srgbClr val="250845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612648"/>
            <a:ext cx="4114800" cy="42062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400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0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Limitations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13385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Name alias gaps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37160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'red 40 lake' not matched vs 'allura red' — same chemical, missed by keyword matching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77393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  CTD sample is pharmaceutical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01168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5k disease rows cover drug compounds, not food additives — limited overlap with food chemicals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41401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Translation rate limits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65176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API limits translation to ~5k rows — scaling to 100k needs a better solution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305409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High risk underrepresented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329184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102 test samples for High risk → 66% recall. Known limitation of imbalanced datasets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369417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Partially manual weights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393192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1 weights are researcher-assigned, not fully automated from data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612648"/>
            <a:ext cx="4114800" cy="4251960"/>
          </a:xfrm>
          <a:prstGeom prst="rect">
            <a:avLst/>
          </a:prstGeom>
          <a:solidFill>
            <a:srgbClr val="250845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612648"/>
            <a:ext cx="4114800" cy="42062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6400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0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Work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113385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Expand name aliases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137160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red 40 lake, fdc yellow 6, sulfur dioxide and 20+ more known aliases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177393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Full CTD database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201168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entries would auto-replace manual fallback completely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0" y="241401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Web/mobile app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265176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any food label → instant risk score — democratize food safety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305409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Serving size analysis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329184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what's in it but how much — dose-response modeling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54880" y="369417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Extend beyond snacks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54880" y="393192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Cosmetics, medicines, household products using same pipeline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91440"/>
            <a:ext cx="9144000" cy="50292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74320" y="54864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chemeClr val="bg1"/>
                </a:solidFill>
                <a:latin typeface="Arial Black" panose="020B0A04020102020204" pitchFamily="34" charset="0"/>
              </a:rPr>
              <a:t>References</a:t>
            </a:r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73152" cy="109728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468880"/>
            <a:ext cx="2514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data-driven system that transforms raw ingredient text into meaningful health risk insights at the product level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46120" y="1901952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46120" y="2468880"/>
            <a:ext cx="2514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large-scale grocery product data with CTD chemical–health datasets — something no existing tool does automatically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935243" y="2401301"/>
            <a:ext cx="1783855" cy="16136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5" name="Rectangle 23">
            <a:extLst>
              <a:ext uri="{FF2B5EF4-FFF2-40B4-BE49-F238E27FC236}">
                <a16:creationId xmlns:a16="http://schemas.microsoft.com/office/drawing/2014/main" id="{F3CC6667-C0CA-4D29-A279-AD0585FDBE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" y="656091"/>
            <a:ext cx="8429413" cy="2769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Dataset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https://world.openfoodfacts.org/data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CTD Scientific Database (chemical-disease links)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4"/>
              </a:rPr>
              <a:t>https://ctdbase.org/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Southampton Study 2007 (artificial colors → hyperactivity)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5"/>
              </a:rPr>
              <a:t>https://www.thelancet.com/journals/lancet/article/PIIS0140-6736(07)61306-3/abstract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WHO / IARC — Processed Meat &amp; Sodium Nitrite (Group 1 Carcinogen)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6"/>
              </a:rPr>
              <a:t>https://www.iarc.who.int/wp-content/uploads/2018/07/pr240_E.pdf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 IARC 2023 — Aspartame (possibly carcinogenic)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7"/>
              </a:rPr>
              <a:t>https://www.iarc.who.int/featured-news/iarc-monographs-evaluate-the-carcinogenicity-of-aspartame/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6. FDA — Trans Fat Ban (partially hydrogenated oils)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8"/>
              </a:rPr>
              <a:t>https://www.fda.gov/food/food-additives-petitions/trans-fat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7. EU — Titanium Dioxide (E171) Ban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9"/>
              </a:rPr>
              <a:t>https://efsa.onlinelibrary.wiley.com/doi/10.2903/j.efsa.2021.6585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8.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Chassaing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et al. 2015 — Emulsifiers &amp; gut microbiome (Nature)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10"/>
              </a:rPr>
              <a:t>https://www.nature.com/articles/nature14232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9. scikit-learn (Random Forest / ML)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11"/>
              </a:rPr>
              <a:t>https://scikit-learn.org/stable/modules/ensemble.html#forest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10. CTD Database Paper (Nucleic Acids Research 2023)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12"/>
              </a:rPr>
              <a:t>https://academic.oup.com/nar/article/51/D1/D1276/6833202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45660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0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731520"/>
            <a:ext cx="4114800" cy="4114800"/>
          </a:xfrm>
          <a:prstGeom prst="ellipse">
            <a:avLst/>
          </a:prstGeom>
          <a:solidFill>
            <a:srgbClr val="FF6B6B">
              <a:alpha val="10000"/>
            </a:srgbClr>
          </a:solidFill>
          <a:ln w="12700">
            <a:solidFill>
              <a:srgbClr val="FF6B6B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2743200"/>
            <a:ext cx="3200400" cy="3200400"/>
          </a:xfrm>
          <a:prstGeom prst="ellipse">
            <a:avLst/>
          </a:prstGeom>
          <a:solidFill>
            <a:srgbClr val="06D6A0">
              <a:alpha val="10000"/>
            </a:srgbClr>
          </a:solidFill>
          <a:ln w="12700">
            <a:solidFill>
              <a:srgbClr val="06D6A0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828800" y="2578608"/>
            <a:ext cx="5486400" cy="457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72491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Lavanya Puthila, Zach Edward  ·  Masters Capstone  ·  Team C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0" y="3246120"/>
            <a:ext cx="2011680" cy="420624"/>
          </a:xfrm>
          <a:prstGeom prst="rect">
            <a:avLst/>
          </a:prstGeom>
          <a:solidFill>
            <a:srgbClr val="FF6B6B">
              <a:alpha val="22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324612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99,958 Products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0" y="3246120"/>
            <a:ext cx="2011680" cy="420624"/>
          </a:xfrm>
          <a:prstGeom prst="rect">
            <a:avLst/>
          </a:prstGeom>
          <a:solidFill>
            <a:srgbClr val="FFD166">
              <a:alpha val="22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324612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207 Chemicals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0" y="3246120"/>
            <a:ext cx="2011680" cy="420624"/>
          </a:xfrm>
          <a:prstGeom prst="rect">
            <a:avLst/>
          </a:prstGeom>
          <a:solidFill>
            <a:srgbClr val="06D6A0">
              <a:alpha val="22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324612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Languages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371600" y="3794760"/>
            <a:ext cx="2011680" cy="420624"/>
          </a:xfrm>
          <a:prstGeom prst="rect">
            <a:avLst/>
          </a:prstGeom>
          <a:solidFill>
            <a:srgbClr val="FF6B6B">
              <a:alpha val="22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379476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CTD Database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0" y="3794760"/>
            <a:ext cx="2011680" cy="420624"/>
          </a:xfrm>
          <a:prstGeom prst="rect">
            <a:avLst/>
          </a:prstGeom>
          <a:solidFill>
            <a:srgbClr val="FFD166">
              <a:alpha val="22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0" y="379476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0" y="3794760"/>
            <a:ext cx="2011680" cy="420624"/>
          </a:xfrm>
          <a:prstGeom prst="rect">
            <a:avLst/>
          </a:prstGeom>
          <a:solidFill>
            <a:srgbClr val="06D6A0">
              <a:alpha val="22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0" y="379476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 Accuracy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663440"/>
            <a:ext cx="914400" cy="4800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4663440"/>
            <a:ext cx="914400" cy="48006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0" y="4663440"/>
            <a:ext cx="914400" cy="48006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0" y="4663440"/>
            <a:ext cx="914400" cy="4800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0" y="4663440"/>
            <a:ext cx="914400" cy="480060"/>
          </a:xfrm>
          <a:prstGeom prst="rect">
            <a:avLst/>
          </a:prstGeom>
          <a:solidFill>
            <a:srgbClr val="118AB2"/>
          </a:solidFill>
          <a:ln w="12700">
            <a:solidFill>
              <a:srgbClr val="118AB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4663440"/>
            <a:ext cx="914400" cy="48006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0" y="4663440"/>
            <a:ext cx="914400" cy="4800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0" y="4663440"/>
            <a:ext cx="914400" cy="48006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0" y="4663440"/>
            <a:ext cx="914400" cy="48006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0" y="4663440"/>
            <a:ext cx="914400" cy="4800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0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OpenFoodFacts  ·  CTD Database  ·  scikit-learn  ·  Python  ·  NLP  ·  Machine Learning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1600</TotalTime>
  <Words>3461</Words>
  <Application>Microsoft Office PowerPoint</Application>
  <PresentationFormat>On-screen Show (16:9)</PresentationFormat>
  <Paragraphs>675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Arial Black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Snack Health Risk Analyzer</dc:title>
  <dc:subject>PptxGenJS Presentation</dc:subject>
  <dc:creator>Sai Lavanya Puthila</dc:creator>
  <cp:lastModifiedBy>Sai Lavanya Puthila</cp:lastModifiedBy>
  <cp:revision>18</cp:revision>
  <dcterms:created xsi:type="dcterms:W3CDTF">2026-04-14T16:17:03Z</dcterms:created>
  <dcterms:modified xsi:type="dcterms:W3CDTF">2026-04-24T21:42:44Z</dcterms:modified>
</cp:coreProperties>
</file>